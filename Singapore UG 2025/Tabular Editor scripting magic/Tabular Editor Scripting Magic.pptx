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0" r:id="rId5"/>
    <p:sldId id="371" r:id="rId6"/>
    <p:sldId id="270" r:id="rId7"/>
    <p:sldId id="372" r:id="rId8"/>
    <p:sldId id="266" r:id="rId9"/>
    <p:sldId id="264" r:id="rId10"/>
    <p:sldId id="267" r:id="rId11"/>
    <p:sldId id="265" r:id="rId12"/>
    <p:sldId id="263" r:id="rId13"/>
    <p:sldId id="268" r:id="rId14"/>
    <p:sldId id="269" r:id="rId15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820" autoAdjust="0"/>
  </p:normalViewPr>
  <p:slideViewPr>
    <p:cSldViewPr snapToGrid="0">
      <p:cViewPr varScale="1">
        <p:scale>
          <a:sx n="56" d="100"/>
          <a:sy n="56" d="100"/>
        </p:scale>
        <p:origin x="162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73431-3AA2-48B7-8289-C1513C12A489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F3C34-81E9-4E43-B23D-6332F5017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3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01 Split CamelCase: tables just imported from source – use script to “prettify” names of both the tables and the columns within</a:t>
            </a:r>
          </a:p>
          <a:p>
            <a:r>
              <a:rPr lang="en-GB" dirty="0"/>
              <a:t>02 Create relationships: after “prettifying”</a:t>
            </a:r>
            <a:br>
              <a:rPr lang="en-GB" dirty="0"/>
            </a:br>
            <a:r>
              <a:rPr lang="en-GB" dirty="0"/>
              <a:t>03 Create measures from columns: Search for “amount” then run script on just those columns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3C34-81E9-4E43-B23D-6332F5017B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43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dirty="0"/>
              <a:t>Load TMSL model in TE2 and explain the $ perspectives – show script and run it once</a:t>
            </a:r>
          </a:p>
          <a:p>
            <a:pPr marL="228600" indent="-228600">
              <a:buAutoNum type="arabicPeriod"/>
            </a:pPr>
            <a:r>
              <a:rPr lang="en-GB" dirty="0"/>
              <a:t>Close TE2 without saving</a:t>
            </a:r>
          </a:p>
          <a:p>
            <a:pPr marL="228600" indent="-228600">
              <a:buAutoNum type="arabicPeriod"/>
            </a:pPr>
            <a:r>
              <a:rPr lang="en-GB" dirty="0"/>
              <a:t>Show SSMS – no databases other than “</a:t>
            </a:r>
            <a:r>
              <a:rPr lang="en-GB" dirty="0" err="1"/>
              <a:t>AdventureWorks</a:t>
            </a:r>
            <a:r>
              <a:rPr lang="en-GB" dirty="0"/>
              <a:t>”</a:t>
            </a:r>
          </a:p>
          <a:p>
            <a:pPr marL="228600" indent="-228600">
              <a:buAutoNum type="arabicPeriod"/>
            </a:pPr>
            <a:r>
              <a:rPr lang="en-GB" dirty="0"/>
              <a:t>Run: deploy-submodels.cmd</a:t>
            </a:r>
          </a:p>
          <a:p>
            <a:pPr marL="228600" indent="-228600">
              <a:buAutoNum type="arabicPeriod"/>
            </a:pPr>
            <a:r>
              <a:rPr lang="en-GB" dirty="0"/>
              <a:t>Run: full-refresh-all.cmd</a:t>
            </a:r>
          </a:p>
          <a:p>
            <a:pPr marL="228600" indent="-228600">
              <a:buAutoNum type="arabicPeriod"/>
            </a:pPr>
            <a:r>
              <a:rPr lang="en-GB" dirty="0"/>
              <a:t>Show SSMS – now we have databases</a:t>
            </a:r>
          </a:p>
          <a:p>
            <a:pPr marL="228600" indent="-228600">
              <a:buAutoNum type="arabicPeriod"/>
            </a:pPr>
            <a:r>
              <a:rPr lang="en-GB" dirty="0"/>
              <a:t>Open TMSL in TE2 – modify date table, e.g.: add measure “Number of weekdays” – include in all perspectives:</a:t>
            </a:r>
            <a:br>
              <a:rPr lang="en-GB" dirty="0"/>
            </a:br>
            <a:br>
              <a:rPr lang="en-GB" dirty="0"/>
            </a:br>
            <a:r>
              <a:rPr lang="en-GB" sz="18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en-GB" sz="18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COUNTROWS</a:t>
            </a:r>
            <a:r>
              <a:rPr lang="en-GB" sz="18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'Date'</a:t>
            </a:r>
            <a:r>
              <a:rPr lang="en-GB" sz="18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'Date'[Day Number Of Week] &gt;= </a:t>
            </a:r>
            <a:r>
              <a:rPr lang="en-GB" sz="1800" dirty="0">
                <a:solidFill>
                  <a:srgbClr val="EE7F1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'Date'[Day Number Of Week] &lt;= </a:t>
            </a:r>
            <a:r>
              <a:rPr lang="en-GB" sz="1800" dirty="0">
                <a:solidFill>
                  <a:srgbClr val="EE7F1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GB" sz="18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)</a:t>
            </a:r>
            <a:br>
              <a:rPr lang="en-GB" dirty="0"/>
            </a:br>
            <a:endParaRPr lang="en-GB" dirty="0"/>
          </a:p>
          <a:p>
            <a:pPr marL="228600" indent="-228600">
              <a:buAutoNum type="arabicPeriod"/>
            </a:pPr>
            <a:r>
              <a:rPr lang="en-GB" dirty="0"/>
              <a:t>Save TMSL</a:t>
            </a:r>
          </a:p>
          <a:p>
            <a:pPr marL="228600" indent="-228600">
              <a:buAutoNum type="arabicPeriod"/>
            </a:pPr>
            <a:r>
              <a:rPr lang="en-GB" dirty="0"/>
              <a:t>Run: deploy-submodels.cmd again</a:t>
            </a:r>
          </a:p>
          <a:p>
            <a:pPr marL="228600" indent="-228600">
              <a:buAutoNum type="arabicPeriod"/>
            </a:pPr>
            <a:r>
              <a:rPr lang="en-GB" dirty="0"/>
              <a:t>Now, show that [Number of weekdays] is included in all models 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3C34-81E9-4E43-B23D-6332F5017B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92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DO NOT use the local </a:t>
            </a:r>
            <a:r>
              <a:rPr lang="en-GB" dirty="0" err="1"/>
              <a:t>adventureworks</a:t>
            </a:r>
            <a:r>
              <a:rPr lang="en-GB" dirty="0"/>
              <a:t> model – because of locale settings, float values are not properly assigned to SVG strings…</a:t>
            </a:r>
            <a:br>
              <a:rPr lang="en-GB" dirty="0"/>
            </a:br>
            <a:r>
              <a:rPr lang="en-GB" dirty="0"/>
              <a:t>Use </a:t>
            </a:r>
            <a:r>
              <a:rPr lang="en-GB" dirty="0" err="1"/>
              <a:t>SpaceParts.pbix</a:t>
            </a:r>
            <a:r>
              <a:rPr lang="en-GB" dirty="0"/>
              <a:t> instead: </a:t>
            </a:r>
            <a:br>
              <a:rPr lang="en-GB" dirty="0"/>
            </a:br>
            <a:r>
              <a:rPr lang="en-GB" dirty="0"/>
              <a:t>Macros &gt; Add SVG Chart &gt; Bullet Chart &gt; Label and Qualitative ranges</a:t>
            </a:r>
            <a:br>
              <a:rPr lang="en-GB" dirty="0"/>
            </a:br>
            <a:r>
              <a:rPr lang="en-GB" dirty="0"/>
              <a:t>1. [Gross Sales]</a:t>
            </a:r>
            <a:br>
              <a:rPr lang="en-GB" dirty="0"/>
            </a:br>
            <a:r>
              <a:rPr lang="en-GB" dirty="0"/>
              <a:t>2. [Total Budget]</a:t>
            </a:r>
            <a:br>
              <a:rPr lang="en-GB" dirty="0"/>
            </a:br>
            <a:r>
              <a:rPr lang="en-GB" dirty="0"/>
              <a:t>3. Customer[Key Account Name]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1F3C34-81E9-4E43-B23D-6332F5017B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72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904D7-0A00-814A-40DA-81A91A66F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6826B-4373-7DD0-CD91-103223CA8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51BB8-86FA-D662-85D6-F35A1CD7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3D60E-1AC8-1DA9-8D81-A5E9EF9B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68098-D6C1-D70B-7CF0-E39EE104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4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713C6-EF55-7725-7957-EC82B843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8AAF-7DEC-22F3-D9B1-ADDA17076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99E3F-5113-640D-1DF6-4E99AF40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A16A5-04C0-709F-31B0-8CF38CEA2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16359-5C1F-072C-BD07-231CAE12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36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403A-CDEB-90A4-FF40-6F844DAAC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D6F16-7568-0076-4BA1-45A7D3A76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8B36D-1256-A6D4-FBD0-8FBCA9A1B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F5D08-2068-DF05-8315-8EF55A36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270D9-1D33-B978-F803-C9D2C62B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1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2645-8244-38A5-8348-C644BB3B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BE882-E50E-2666-151A-A71736964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78C30-9045-B9BC-9CB0-BCADA6A18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7D6F4-5A8C-DB15-8060-0BD18861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2C56B-5455-2D2F-B152-F67C602E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2BE92-8A8B-E6AB-2F08-2613B6CA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4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3DA26-A668-5861-66F8-B99C24AB9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DF880-1DB8-C007-AC06-81A84DED2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5F5D9-A843-B713-6CBC-27765FD27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4D046-B3E6-8E1A-0AE9-4303E5E632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1D2D3F-0F33-1FB8-84B0-966D1D8A5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4B82F4-A10B-FB50-1FDF-8EF75CC25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5FF879-C2F0-83E3-F233-124F5B49B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00B3B-F124-AC4E-21A9-47EA6290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31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3931D-C45F-BD68-0268-91FD28F0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1D4C2-BF99-CD05-FEF8-426B01D84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108550-6666-C290-92D0-1EFA46C8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F4146-512B-57AF-FAC7-CD4D321B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50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C6FF9B-C12B-F8D7-0DDF-5482672C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EDBCA6-D9ED-4C0C-DE77-B3954DFC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E2680-B61B-86B6-D04D-7A20CA21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1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2B212-EF0B-D383-9586-C4D05F6D4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0CF6A-924E-61C2-39FC-A240F0111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3284A5-5EE4-D6FE-48C6-A5E855716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A688A-C604-CE2D-BE00-D239107A8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36D76-3966-F7FD-5E5F-B13B9A7D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28D61-C3E8-B242-9EDC-2B32194F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99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FC02-DD7F-F1B8-E0B3-872A5F00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1D9023-2735-E3D3-077B-C57F68442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AA589-0D40-9668-CF3F-6A9B059DC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42838-11D5-A359-78D9-A9981CD90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92209-995E-E0E9-11DF-9EC30F9E1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F0CC1-0897-E4B0-EF3F-F11DDB6F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289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EC6D7-F984-CB30-005D-7252A4A5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7EAD9-9822-25FC-7527-82F26D6DB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05209-0A0F-320E-9495-D759DF15E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F2540-EAC7-CFEC-3B8D-FF556699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94CA2-1DC3-B6FC-A7D6-7EDD7AB2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0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60D573-1D9E-8CD4-93BF-3704C0488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2C336B-1CF6-304C-9312-FC5CC230B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F86A8-4689-EB89-55E7-7454CECE5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D5C99-9A3F-5360-95B2-2C7575D2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B5189-300F-B663-6CF6-CD8FFED1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46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85CAC5-3F88-600A-6253-568EECD74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97B3A-D4D1-95B5-A771-82BA9998D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B6579-5DC5-C17A-E865-07BB4B57B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1684E-EB56-4124-8041-6A1B491229A0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CDBD7-3E4B-50B0-5CE2-CD639BE07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CAEE8-DD7C-1064-5ABE-D05E59055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9C54E-6864-4280-816B-0F694C00E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49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tabulareditor.com/blog/using-llms-to-create-c-scripts-for-tabular-edito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abulareditor.com/te2/Useful-script-snippets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tabulareditor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abulareditor.com/te2/Useful-script-snippets.html" TargetMode="External"/><Relationship Id="rId2" Type="http://schemas.openxmlformats.org/officeDocument/2006/relationships/hyperlink" Target="https://github.com/otykier/train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abulareditor.com/blog/using-llms-to-create-c-scripts-for-tabular-editor" TargetMode="External"/><Relationship Id="rId4" Type="http://schemas.openxmlformats.org/officeDocument/2006/relationships/hyperlink" Target="https://docs.tabulareditor.com/common/CSharpScripts/csharp-script-library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740E-CB81-18EE-60D6-76070C6C0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237" y="250893"/>
            <a:ext cx="5404834" cy="2387600"/>
          </a:xfrm>
        </p:spPr>
        <p:txBody>
          <a:bodyPr/>
          <a:lstStyle/>
          <a:p>
            <a:r>
              <a:rPr lang="en-GB" dirty="0"/>
              <a:t>Tabular Editor Scripting Magic</a:t>
            </a:r>
            <a:endParaRPr lang="en-US" dirty="0"/>
          </a:p>
        </p:txBody>
      </p:sp>
      <p:pic>
        <p:nvPicPr>
          <p:cNvPr id="1026" name="Picture 2" descr="Happy birthday, Harry Potter! 7 Reasons we love this wizard">
            <a:extLst>
              <a:ext uri="{FF2B5EF4-FFF2-40B4-BE49-F238E27FC236}">
                <a16:creationId xmlns:a16="http://schemas.microsoft.com/office/drawing/2014/main" id="{CB301A77-E9CC-90E5-02F7-CE7069D6F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023" y="2185115"/>
            <a:ext cx="5061397" cy="284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DAFAAD49-3AF9-C053-8FCD-D284FE83DAA3}"/>
              </a:ext>
            </a:extLst>
          </p:cNvPr>
          <p:cNvSpPr/>
          <p:nvPr/>
        </p:nvSpPr>
        <p:spPr>
          <a:xfrm>
            <a:off x="7899621" y="1511121"/>
            <a:ext cx="4009045" cy="673994"/>
          </a:xfrm>
          <a:prstGeom prst="wedgeEllipseCallout">
            <a:avLst>
              <a:gd name="adj1" fmla="val -7426"/>
              <a:gd name="adj2" fmla="val 1136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dirty="0" err="1">
                <a:latin typeface="Consolas" panose="020B0609020204030204" pitchFamily="49" charset="0"/>
              </a:rPr>
              <a:t>Selected.Patronum.Output</a:t>
            </a:r>
            <a:r>
              <a:rPr lang="en-GB" dirty="0">
                <a:latin typeface="Consolas" panose="020B0609020204030204" pitchFamily="49" charset="0"/>
              </a:rPr>
              <a:t>();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78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2FD83-4395-2FBC-BA71-36D4B7ED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789F-8155-025E-E312-783AAD1A1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0557" cy="4351338"/>
          </a:xfrm>
        </p:spPr>
        <p:txBody>
          <a:bodyPr/>
          <a:lstStyle/>
          <a:p>
            <a:r>
              <a:rPr lang="en-GB" dirty="0"/>
              <a:t>Daniel Otykier</a:t>
            </a:r>
          </a:p>
          <a:p>
            <a:r>
              <a:rPr lang="en-GB" dirty="0"/>
              <a:t>Inventor of Tabular Editor</a:t>
            </a:r>
          </a:p>
          <a:p>
            <a:r>
              <a:rPr lang="en-GB" dirty="0"/>
              <a:t>CTO @ Tabular Editor </a:t>
            </a:r>
            <a:r>
              <a:rPr lang="en-GB" dirty="0" err="1"/>
              <a:t>ApS</a:t>
            </a:r>
            <a:endParaRPr lang="en-GB" dirty="0"/>
          </a:p>
          <a:p>
            <a:r>
              <a:rPr lang="en-GB" dirty="0"/>
              <a:t>Microsoft Data Platform MVP (6 years)</a:t>
            </a:r>
          </a:p>
          <a:p>
            <a:r>
              <a:rPr lang="en-GB" dirty="0"/>
              <a:t>Power BI Contributor (“External Tools” ribbon)</a:t>
            </a:r>
            <a:endParaRPr lang="en-US" dirty="0"/>
          </a:p>
        </p:txBody>
      </p:sp>
      <p:pic>
        <p:nvPicPr>
          <p:cNvPr id="1030" name="Picture 6" descr="Harry Potter Sorting Hat [9912526] - Struts Party Superstore">
            <a:extLst>
              <a:ext uri="{FF2B5EF4-FFF2-40B4-BE49-F238E27FC236}">
                <a16:creationId xmlns:a16="http://schemas.microsoft.com/office/drawing/2014/main" id="{81746DD2-6E31-CAFC-F0C0-321237036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200" r="98200">
                        <a14:foregroundMark x1="10400" y1="58286" x2="3200" y2="64429"/>
                        <a14:foregroundMark x1="3200" y1="64429" x2="15000" y2="59286"/>
                        <a14:foregroundMark x1="15000" y1="59286" x2="10200" y2="57857"/>
                        <a14:foregroundMark x1="89600" y1="59857" x2="98200" y2="63571"/>
                        <a14:foregroundMark x1="98200" y1="63571" x2="884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869" y="-1949060"/>
            <a:ext cx="1836308" cy="257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person sitting on a chair&#10;&#10;AI-generated content may be incorrect.">
            <a:extLst>
              <a:ext uri="{FF2B5EF4-FFF2-40B4-BE49-F238E27FC236}">
                <a16:creationId xmlns:a16="http://schemas.microsoft.com/office/drawing/2014/main" id="{423606F7-6BC8-FC79-9244-E98ECE286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57" t="4776" r="34616" b="44544"/>
          <a:stretch>
            <a:fillRect/>
          </a:stretch>
        </p:blipFill>
        <p:spPr>
          <a:xfrm>
            <a:off x="8297839" y="1282889"/>
            <a:ext cx="3521121" cy="418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7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7.40741E-7 L 0.00521 0.433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" y="21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02A7-E0AD-2F39-0B10-6CCB8F56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Tabular Editor scripting?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3240F-2CE0-1A7F-ED91-D98D9CC44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01234" cy="498460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One size rarely fits all…</a:t>
            </a:r>
          </a:p>
          <a:p>
            <a:r>
              <a:rPr lang="en-GB" dirty="0"/>
              <a:t>Pro software must be extensible</a:t>
            </a:r>
          </a:p>
          <a:p>
            <a:r>
              <a:rPr lang="en-GB" dirty="0"/>
              <a:t>Tabular Editor uses C# for scripting</a:t>
            </a:r>
          </a:p>
          <a:p>
            <a:pPr lvl="1"/>
            <a:r>
              <a:rPr lang="en-GB" b="1" dirty="0"/>
              <a:t>Available in both TE2 and TE3!</a:t>
            </a:r>
          </a:p>
          <a:p>
            <a:r>
              <a:rPr lang="en-GB" dirty="0"/>
              <a:t>Use scripts to modify the model</a:t>
            </a:r>
          </a:p>
          <a:p>
            <a:r>
              <a:rPr lang="en-GB" dirty="0"/>
              <a:t>Use scripts to interact with the user</a:t>
            </a:r>
          </a:p>
          <a:p>
            <a:r>
              <a:rPr lang="en-GB" dirty="0"/>
              <a:t>Save scripts as custom macros</a:t>
            </a:r>
          </a:p>
          <a:p>
            <a:pPr lvl="1"/>
            <a:r>
              <a:rPr lang="en-GB" dirty="0"/>
              <a:t>integrates directly in Tabular Editors UI</a:t>
            </a:r>
          </a:p>
          <a:p>
            <a:r>
              <a:rPr lang="en-GB" dirty="0"/>
              <a:t>Don’t be afraid of C#</a:t>
            </a:r>
          </a:p>
          <a:p>
            <a:pPr lvl="1"/>
            <a:r>
              <a:rPr lang="en-GB" dirty="0"/>
              <a:t>Many samples available online</a:t>
            </a:r>
          </a:p>
          <a:p>
            <a:pPr lvl="1"/>
            <a:r>
              <a:rPr lang="en-GB" dirty="0"/>
              <a:t>ChatGPT / LLMs are </a:t>
            </a:r>
            <a:r>
              <a:rPr lang="en-GB" i="1" dirty="0"/>
              <a:t>really</a:t>
            </a:r>
            <a:r>
              <a:rPr lang="en-GB" dirty="0"/>
              <a:t> good at generating C# scripts!</a:t>
            </a:r>
          </a:p>
          <a:p>
            <a:pPr lvl="1"/>
            <a:r>
              <a:rPr lang="en-GB" dirty="0">
                <a:hlinkClick r:id="rId2"/>
              </a:rPr>
              <a:t>https://tabulareditor.com/blog/using-llms-to-create-c-scripts-for-tabular-editor</a:t>
            </a:r>
            <a:r>
              <a:rPr lang="en-GB" dirty="0"/>
              <a:t> </a:t>
            </a:r>
          </a:p>
        </p:txBody>
      </p:sp>
      <p:pic>
        <p:nvPicPr>
          <p:cNvPr id="2050" name="Picture 2" descr="Agile - what sorcery is this?">
            <a:extLst>
              <a:ext uri="{FF2B5EF4-FFF2-40B4-BE49-F238E27FC236}">
                <a16:creationId xmlns:a16="http://schemas.microsoft.com/office/drawing/2014/main" id="{F140CABC-4780-3D33-1409-1829AD6D0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889" y="2219074"/>
            <a:ext cx="53244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4749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02834F-243D-09EB-FFE8-BCAC521BB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C# script examples</a:t>
            </a:r>
            <a:endParaRPr lang="en-DK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38A5A9-FCCE-21F0-2D73-DD1384A05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Split CamelCase</a:t>
            </a:r>
          </a:p>
          <a:p>
            <a:r>
              <a:rPr lang="en-GB" dirty="0"/>
              <a:t>Create relationships</a:t>
            </a:r>
          </a:p>
          <a:p>
            <a:r>
              <a:rPr lang="en-GB" dirty="0"/>
              <a:t>Create measures from columns</a:t>
            </a:r>
          </a:p>
          <a:p>
            <a:r>
              <a:rPr lang="en-GB" dirty="0"/>
              <a:t>Create parameter table (“measure selector”)</a:t>
            </a:r>
          </a:p>
          <a:p>
            <a:r>
              <a:rPr lang="en-GB" dirty="0"/>
              <a:t>Executing DAX queries in scripts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sz="2400" dirty="0"/>
              <a:t>All these examples (and many more) are available on:</a:t>
            </a:r>
            <a:br>
              <a:rPr lang="en-GB" sz="2400" dirty="0"/>
            </a:br>
            <a:r>
              <a:rPr lang="en-DK" sz="2400" dirty="0">
                <a:hlinkClick r:id="rId3"/>
              </a:rPr>
              <a:t>https://docs.tabulareditor.com/te2/Useful-script-snippets.html</a:t>
            </a:r>
            <a:endParaRPr lang="en-GB" sz="2400" dirty="0"/>
          </a:p>
          <a:p>
            <a:pPr marL="0" indent="0">
              <a:buNone/>
            </a:pPr>
            <a:endParaRPr lang="en-DK" dirty="0"/>
          </a:p>
        </p:txBody>
      </p:sp>
      <p:pic>
        <p:nvPicPr>
          <p:cNvPr id="1026" name="Picture 2" descr="Top 10 Most famous spells from Harry Potter | Svetkouzel.com">
            <a:extLst>
              <a:ext uri="{FF2B5EF4-FFF2-40B4-BE49-F238E27FC236}">
                <a16:creationId xmlns:a16="http://schemas.microsoft.com/office/drawing/2014/main" id="{90F6D81B-864C-09CD-5030-49A713738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1147" y="1925117"/>
            <a:ext cx="5539425" cy="276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508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A440-5843-8781-DAD5-55290BF9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Intelligence on Steroids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F2B5E-328D-DAD4-F3A7-436D5CD58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2" name="Picture 4" descr="How Does Harry Potter's Time-Turner Work?">
            <a:extLst>
              <a:ext uri="{FF2B5EF4-FFF2-40B4-BE49-F238E27FC236}">
                <a16:creationId xmlns:a16="http://schemas.microsoft.com/office/drawing/2014/main" id="{B17A88B4-0F70-E490-AA65-4FF0C3C3A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481" y="1825625"/>
            <a:ext cx="8291052" cy="414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23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43BB-B0E4-99ED-1647-C80EA9E8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Master Model Pattern</a:t>
            </a:r>
            <a:endParaRPr lang="en-US" dirty="0"/>
          </a:p>
        </p:txBody>
      </p:sp>
      <p:pic>
        <p:nvPicPr>
          <p:cNvPr id="1026" name="Picture 2" descr="Battle of the Seven Potters | Harry Potter Wiki | Fandom">
            <a:extLst>
              <a:ext uri="{FF2B5EF4-FFF2-40B4-BE49-F238E27FC236}">
                <a16:creationId xmlns:a16="http://schemas.microsoft.com/office/drawing/2014/main" id="{2C5F3D38-44CD-CAA2-E918-CF06BFFA1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82" y="1690688"/>
            <a:ext cx="7677036" cy="4526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71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EB98-169F-F1E4-638A-1BC5AAA2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Refresher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43FB5-A67A-2413-B11B-420308ECE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Credit:</a:t>
            </a:r>
          </a:p>
          <a:p>
            <a:pPr lvl="1"/>
            <a:r>
              <a:rPr lang="en-GB" dirty="0"/>
              <a:t>Michael Kovalsky</a:t>
            </a:r>
          </a:p>
          <a:p>
            <a:pPr lvl="1"/>
            <a:r>
              <a:rPr lang="en-GB" dirty="0"/>
              <a:t>elegantbi.com</a:t>
            </a:r>
            <a:endParaRPr lang="en-US" dirty="0"/>
          </a:p>
        </p:txBody>
      </p:sp>
      <p:pic>
        <p:nvPicPr>
          <p:cNvPr id="4098" name="Picture 2" descr="Harry Potter: Do Hermione's Parents Get Their Memories Back?">
            <a:extLst>
              <a:ext uri="{FF2B5EF4-FFF2-40B4-BE49-F238E27FC236}">
                <a16:creationId xmlns:a16="http://schemas.microsoft.com/office/drawing/2014/main" id="{48E75BC8-254C-8534-9EF3-4A262D97B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2671" y="1690688"/>
            <a:ext cx="7334864" cy="366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801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EE53-A201-E757-D63C-7624AFE9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Invoking ChatGPT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40A70-37EA-A767-710A-863D69148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Credit:</a:t>
            </a:r>
          </a:p>
          <a:p>
            <a:pPr lvl="1"/>
            <a:r>
              <a:rPr lang="en-GB" dirty="0"/>
              <a:t>David Bojsen</a:t>
            </a:r>
            <a:endParaRPr lang="en-US" dirty="0"/>
          </a:p>
        </p:txBody>
      </p:sp>
      <p:pic>
        <p:nvPicPr>
          <p:cNvPr id="5122" name="Picture 2" descr="Parseltongue | Harry Potter Wiki | Fandom">
            <a:extLst>
              <a:ext uri="{FF2B5EF4-FFF2-40B4-BE49-F238E27FC236}">
                <a16:creationId xmlns:a16="http://schemas.microsoft.com/office/drawing/2014/main" id="{F945F029-8A36-0C80-E99E-716DFCDDE8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65"/>
          <a:stretch/>
        </p:blipFill>
        <p:spPr bwMode="auto">
          <a:xfrm>
            <a:off x="4365524" y="2207163"/>
            <a:ext cx="7586814" cy="400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255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CA12A-089A-47C0-A337-9BB27E123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SVG Measures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72736-9938-B1B2-25AF-992704C55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Credit:</a:t>
            </a:r>
          </a:p>
          <a:p>
            <a:pPr lvl="1"/>
            <a:r>
              <a:rPr lang="en-GB" dirty="0"/>
              <a:t>Kurt Buhler</a:t>
            </a:r>
          </a:p>
          <a:p>
            <a:pPr lvl="1"/>
            <a:r>
              <a:rPr lang="en-GB" dirty="0"/>
              <a:t>data-goblins.com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hlinkClick r:id="rId3"/>
              </a:rPr>
              <a:t>https://blog.tabulareditor.com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(Blog post coming soon)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B69054-2594-5E87-20C0-67E25522A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390" y="1201319"/>
            <a:ext cx="7130918" cy="4192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Wizarding World of Harry Potter: Inside Universal Studios Attraction">
            <a:extLst>
              <a:ext uri="{FF2B5EF4-FFF2-40B4-BE49-F238E27FC236}">
                <a16:creationId xmlns:a16="http://schemas.microsoft.com/office/drawing/2014/main" id="{556AA69F-C170-7444-D7C6-40DEB4B90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980" y="1442677"/>
            <a:ext cx="7031294" cy="395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32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165C4-DEE0-B184-D6B0-F0F344475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Snek</a:t>
            </a:r>
            <a:r>
              <a:rPr lang="en-GB" dirty="0"/>
              <a:t>!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347894-8FCE-E62C-979F-0EABFBCE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Credit:</a:t>
            </a:r>
          </a:p>
          <a:p>
            <a:pPr lvl="1"/>
            <a:r>
              <a:rPr lang="en-GB" dirty="0"/>
              <a:t>Kurt Buhler</a:t>
            </a:r>
          </a:p>
          <a:p>
            <a:pPr lvl="1"/>
            <a:r>
              <a:rPr lang="en-GB" dirty="0"/>
              <a:t>data-goblins.com</a:t>
            </a:r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3074" name="Picture 2" descr="Basilisk | Official Harry Potter Encyclopedia">
            <a:extLst>
              <a:ext uri="{FF2B5EF4-FFF2-40B4-BE49-F238E27FC236}">
                <a16:creationId xmlns:a16="http://schemas.microsoft.com/office/drawing/2014/main" id="{F83EB7FC-8E7D-D4A4-68A1-E9F29BA9E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470" y="1027906"/>
            <a:ext cx="7258502" cy="50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704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3358-F4EF-02BF-6281-66A8F0B2A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027D9-E7DD-B78E-305B-B736A972D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All demos in this deck can be found here:</a:t>
            </a:r>
          </a:p>
          <a:p>
            <a:pPr lvl="1"/>
            <a:r>
              <a:rPr lang="en-GB" dirty="0">
                <a:hlinkClick r:id="rId2"/>
              </a:rPr>
              <a:t>https://github.com/otykier/training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C# script library</a:t>
            </a:r>
          </a:p>
          <a:p>
            <a:pPr lvl="1"/>
            <a:r>
              <a:rPr lang="en-GB" dirty="0">
                <a:hlinkClick r:id="rId3"/>
              </a:rPr>
              <a:t>https://docs.tabulareditor.com/te2/Useful-script-snippets.html</a:t>
            </a:r>
            <a:endParaRPr lang="en-GB" dirty="0"/>
          </a:p>
          <a:p>
            <a:pPr lvl="1"/>
            <a:r>
              <a:rPr lang="en-GB" dirty="0">
                <a:hlinkClick r:id="rId4"/>
              </a:rPr>
              <a:t>https://docs.tabulareditor.com/common/CSharpScripts/csharp-script-library.html</a:t>
            </a:r>
            <a:endParaRPr lang="en-GB" dirty="0"/>
          </a:p>
          <a:p>
            <a:pPr lvl="1"/>
            <a:endParaRPr lang="en-GB" dirty="0"/>
          </a:p>
          <a:p>
            <a:r>
              <a:rPr lang="en-GB" dirty="0"/>
              <a:t>LLMs and C# scripts</a:t>
            </a:r>
          </a:p>
          <a:p>
            <a:pPr lvl="1"/>
            <a:r>
              <a:rPr lang="en-GB" dirty="0">
                <a:hlinkClick r:id="rId5"/>
              </a:rPr>
              <a:t>https://tabulareditor.com/blog/using-llms-to-create-c-scripts-for-tabular-editor</a:t>
            </a:r>
            <a:r>
              <a:rPr lang="en-GB" dirty="0"/>
              <a:t> </a:t>
            </a:r>
          </a:p>
          <a:p>
            <a:pPr marL="457200" lvl="1" indent="0">
              <a:buNone/>
            </a:pPr>
            <a:r>
              <a:rPr lang="en-GB" dirty="0"/>
              <a:t> </a:t>
            </a:r>
          </a:p>
          <a:p>
            <a:pPr lvl="1"/>
            <a:endParaRPr lang="en-GB" dirty="0"/>
          </a:p>
          <a:p>
            <a:r>
              <a:rPr lang="en-GB" dirty="0"/>
              <a:t>Happy scripting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73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a6ffbd-ae26-4ddd-9d79-068e6a9ccca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526652977D0C4380958E54BA2CC1B2" ma:contentTypeVersion="15" ma:contentTypeDescription="Create a new document." ma:contentTypeScope="" ma:versionID="5fb245a1f7641cb89cd898670d436907">
  <xsd:schema xmlns:xsd="http://www.w3.org/2001/XMLSchema" xmlns:xs="http://www.w3.org/2001/XMLSchema" xmlns:p="http://schemas.microsoft.com/office/2006/metadata/properties" xmlns:ns3="c8a6ffbd-ae26-4ddd-9d79-068e6a9ccca2" xmlns:ns4="895f1b88-df07-484e-9f25-e3d6a6dd9847" targetNamespace="http://schemas.microsoft.com/office/2006/metadata/properties" ma:root="true" ma:fieldsID="985d17be58259c51403b6e07627a6b64" ns3:_="" ns4:_="">
    <xsd:import namespace="c8a6ffbd-ae26-4ddd-9d79-068e6a9ccca2"/>
    <xsd:import namespace="895f1b88-df07-484e-9f25-e3d6a6dd984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6ffbd-ae26-4ddd-9d79-068e6a9ccc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5f1b88-df07-484e-9f25-e3d6a6dd984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F8CCDC-CD9D-4E27-898F-5013AE407A09}">
  <ds:schemaRefs>
    <ds:schemaRef ds:uri="http://schemas.microsoft.com/office/infopath/2007/PartnerControls"/>
    <ds:schemaRef ds:uri="c8a6ffbd-ae26-4ddd-9d79-068e6a9ccca2"/>
    <ds:schemaRef ds:uri="http://www.w3.org/XML/1998/namespace"/>
    <ds:schemaRef ds:uri="http://schemas.microsoft.com/office/2006/documentManagement/types"/>
    <ds:schemaRef ds:uri="http://purl.org/dc/elements/1.1/"/>
    <ds:schemaRef ds:uri="895f1b88-df07-484e-9f25-e3d6a6dd9847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7936B5C-435D-4F2D-B9D1-E386A43AEA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BF861E-D952-4AD2-9288-A96F270A3A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a6ffbd-ae26-4ddd-9d79-068e6a9ccca2"/>
    <ds:schemaRef ds:uri="895f1b88-df07-484e-9f25-e3d6a6dd98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548</Words>
  <Application>Microsoft Office PowerPoint</Application>
  <PresentationFormat>Widescreen</PresentationFormat>
  <Paragraphs>87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Consolas</vt:lpstr>
      <vt:lpstr>Wingdings</vt:lpstr>
      <vt:lpstr>Office Theme</vt:lpstr>
      <vt:lpstr>Tabular Editor Scripting Magic</vt:lpstr>
      <vt:lpstr>About me</vt:lpstr>
      <vt:lpstr>What is Tabular Editor scripting?</vt:lpstr>
      <vt:lpstr>Basic C# script examples</vt:lpstr>
      <vt:lpstr>Time Intelligence on Steroids</vt:lpstr>
      <vt:lpstr>Master Model Pattern</vt:lpstr>
      <vt:lpstr>Model Refresher</vt:lpstr>
      <vt:lpstr>Invoking ChatGPT</vt:lpstr>
      <vt:lpstr>SVG Measures</vt:lpstr>
      <vt:lpstr>Snek!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Sponsors</dc:title>
  <dc:creator>Just Blindbaek</dc:creator>
  <cp:lastModifiedBy>Daniel Otykier</cp:lastModifiedBy>
  <cp:revision>12</cp:revision>
  <dcterms:created xsi:type="dcterms:W3CDTF">2023-09-12T06:33:16Z</dcterms:created>
  <dcterms:modified xsi:type="dcterms:W3CDTF">2025-07-24T10:47:31Z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0x010100EF526652977D0C4380958E54BA2CC1B2</vt:lpwstr>
  </property>
</Properties>
</file>