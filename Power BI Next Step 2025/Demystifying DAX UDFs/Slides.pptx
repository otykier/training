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57" r:id="rId2"/>
    <p:sldId id="258" r:id="rId3"/>
    <p:sldId id="259" r:id="rId4"/>
    <p:sldId id="261" r:id="rId5"/>
    <p:sldId id="260" r:id="rId6"/>
    <p:sldId id="270" r:id="rId7"/>
    <p:sldId id="272" r:id="rId8"/>
    <p:sldId id="273" r:id="rId9"/>
    <p:sldId id="274" r:id="rId10"/>
    <p:sldId id="275" r:id="rId11"/>
    <p:sldId id="276" r:id="rId12"/>
    <p:sldId id="277" r:id="rId13"/>
    <p:sldId id="278" r:id="rId14"/>
    <p:sldId id="269" r:id="rId15"/>
    <p:sldId id="283" r:id="rId16"/>
    <p:sldId id="287" r:id="rId17"/>
    <p:sldId id="279" r:id="rId18"/>
    <p:sldId id="288" r:id="rId19"/>
    <p:sldId id="282" r:id="rId20"/>
    <p:sldId id="280" r:id="rId21"/>
    <p:sldId id="290" r:id="rId22"/>
    <p:sldId id="281" r:id="rId23"/>
    <p:sldId id="284" r:id="rId24"/>
    <p:sldId id="292" r:id="rId25"/>
    <p:sldId id="271" r:id="rId26"/>
    <p:sldId id="293" r:id="rId27"/>
    <p:sldId id="294" r:id="rId28"/>
    <p:sldId id="296" r:id="rId29"/>
    <p:sldId id="295" r:id="rId30"/>
    <p:sldId id="286" r:id="rId31"/>
    <p:sldId id="285" r:id="rId32"/>
  </p:sldIdLst>
  <p:sldSz cx="12192000" cy="6858000"/>
  <p:notesSz cx="6858000" cy="9144000"/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 autoAdjust="0"/>
    <p:restoredTop sz="85353" autoAdjust="0"/>
  </p:normalViewPr>
  <p:slideViewPr>
    <p:cSldViewPr snapToGrid="0">
      <p:cViewPr varScale="1">
        <p:scale>
          <a:sx n="76" d="100"/>
          <a:sy n="76" d="100"/>
        </p:scale>
        <p:origin x="22" y="67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2B3245-380C-49D7-ADAC-F70F09BA8DCB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8A8D6F-D393-49CB-A11B-B3683A7515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4597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8A8D6F-D393-49CB-A11B-B3683A7515E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6331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8A8D6F-D393-49CB-A11B-B3683A7515E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5294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BFE052-81EC-89A0-A98B-4906CE755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CC88B7-F7A7-8D67-3971-A6E89C2CAA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C619A8-D6E4-4B07-4FD9-1F5A56B82A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F617EA-C6EC-0C2A-7CC8-0A49F293D5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8A8D6F-D393-49CB-A11B-B3683A7515E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1723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8A8D6F-D393-49CB-A11B-B3683A7515E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9645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err="1"/>
              <a:t>IsHidden</a:t>
            </a:r>
            <a:r>
              <a:rPr lang="en-GB" dirty="0"/>
              <a:t> currently does nothing.</a:t>
            </a:r>
          </a:p>
          <a:p>
            <a:r>
              <a:rPr lang="en-GB" dirty="0"/>
              <a:t>Description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8A8D6F-D393-49CB-A11B-B3683A7515E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545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Show in TE2 – demonstrate “Show dependencies” and “formula fix-up”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8A8D6F-D393-49CB-A11B-B3683A7515EF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2318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8A8D6F-D393-49CB-A11B-B3683A7515EF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9772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8A8D6F-D393-49CB-A11B-B3683A7515EF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9172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Show demo 3 in TE3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8A8D6F-D393-49CB-A11B-B3683A7515EF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1540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Underlined are defaults when omitted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8A8D6F-D393-49CB-A11B-B3683A7515EF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7607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Show Demo 4 in TE3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8A8D6F-D393-49CB-A11B-B3683A7515EF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7398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Dynamic format strings</a:t>
            </a:r>
          </a:p>
          <a:p>
            <a:r>
              <a:rPr lang="en-GB" dirty="0"/>
              <a:t>SVGs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8A8D6F-D393-49CB-A11B-B3683A7515EF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76205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8A8D6F-D393-49CB-A11B-B3683A7515EF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75706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8A8D6F-D393-49CB-A11B-B3683A7515EF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6931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2904D7-0A00-814A-40DA-81A91A66FF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96826B-4373-7DD0-CD91-103223CA89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451BB8-86FA-D662-85D6-F35A1CD78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1684E-EB56-4124-8041-6A1B491229A0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B3D60E-1AC8-1DA9-8D81-A5E9EF9B3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968098-D6C1-D70B-7CF0-E39EE104D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9C54E-6864-4280-816B-0F694C00E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486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713C6-EF55-7725-7957-EC82B8439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8F8AAF-7DEC-22F3-D9B1-ADDA170760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099E3F-5113-640D-1DF6-4E99AF400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1684E-EB56-4124-8041-6A1B491229A0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EA16A5-04C0-709F-31B0-8CF38CEA2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416359-5C1F-072C-BD07-231CAE12D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9C54E-6864-4280-816B-0F694C00E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0368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9403A-CDEB-90A4-FF40-6F844DAAC3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8D6F16-7568-0076-4BA1-45A7D3A761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78B36D-1256-A6D4-FBD0-8FBCA9A1B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1684E-EB56-4124-8041-6A1B491229A0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3F5D08-2068-DF05-8315-8EF55A36E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4270D9-1D33-B978-F803-C9D2C62B4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9C54E-6864-4280-816B-0F694C00E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3144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22645-8244-38A5-8348-C644BB3B6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7BE882-E50E-2666-151A-A717369646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A78C30-9045-B9BC-9CB0-BCADA6A18A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57D6F4-5A8C-DB15-8060-0BD188612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1684E-EB56-4124-8041-6A1B491229A0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92C56B-5455-2D2F-B152-F67C602EC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D2BE92-8A8B-E6AB-2F08-2613B6CA4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9C54E-6864-4280-816B-0F694C00E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943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3DA26-A668-5861-66F8-B99C24AB9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5DF880-1DB8-C007-AC06-81A84DED27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75F5D9-A843-B713-6CBC-27765FD274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44D046-B3E6-8E1A-0AE9-4303E5E632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1D2D3F-0F33-1FB8-84B0-966D1D8A5D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4B82F4-A10B-FB50-1FDF-8EF75CC25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1684E-EB56-4124-8041-6A1B491229A0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A5FF879-C2F0-83E3-F233-124F5B49BB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B00B3B-F124-AC4E-21A9-47EA62908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9C54E-6864-4280-816B-0F694C00E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319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3931D-C45F-BD68-0268-91FD28F05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21D4C2-BF99-CD05-FEF8-426B01D84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1684E-EB56-4124-8041-6A1B491229A0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108550-6666-C290-92D0-1EFA46C8A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BF4146-512B-57AF-FAC7-CD4D321BC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9C54E-6864-4280-816B-0F694C00E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5505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C6FF9B-C12B-F8D7-0DDF-5482672C2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1684E-EB56-4124-8041-6A1B491229A0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EDBCA6-D9ED-4C0C-DE77-B3954DFC9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0E2680-B61B-86B6-D04D-7A20CA213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9C54E-6864-4280-816B-0F694C00E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4115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2B212-EF0B-D383-9586-C4D05F6D4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E0CF6A-924E-61C2-39FC-A240F0111F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3284A5-5EE4-D6FE-48C6-A5E8557165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AA688A-C604-CE2D-BE00-D239107A8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1684E-EB56-4124-8041-6A1B491229A0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D36D76-3966-F7FD-5E5F-B13B9A7D4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E28D61-C3E8-B242-9EDC-2B32194FF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9C54E-6864-4280-816B-0F694C00E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5994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DFC02-DD7F-F1B8-E0B3-872A5F008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B1D9023-2735-E3D3-077B-C57F68442A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EAA589-0D40-9668-CF3F-6A9B059DC4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742838-11D5-A359-78D9-A9981CD90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1684E-EB56-4124-8041-6A1B491229A0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92209-995E-E0E9-11DF-9EC30F9E1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3F0CC1-0897-E4B0-EF3F-F11DDB6F9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9C54E-6864-4280-816B-0F694C00E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289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EC6D7-F984-CB30-005D-7252A4A54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D7EAD9-9822-25FC-7527-82F26D6DBA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205209-0A0F-320E-9495-D759DF15E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1684E-EB56-4124-8041-6A1B491229A0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DF2540-EAC7-CFEC-3B8D-FF5566995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394CA2-1DC3-B6FC-A7D6-7EDD7AB2C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9C54E-6864-4280-816B-0F694C00E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7073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660D573-1D9E-8CD4-93BF-3704C04886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2C336B-1CF6-304C-9312-FC5CC230B4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0F86A8-4689-EB89-55E7-7454CECE5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1684E-EB56-4124-8041-6A1B491229A0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AD5C99-9A3F-5360-95B2-2C7575D27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9B5189-300F-B663-6CF6-CD8FFED1F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9C54E-6864-4280-816B-0F694C00E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5461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85CAC5-3F88-600A-6253-568EECD748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197B3A-D4D1-95B5-A771-82BA9998DD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6B6579-5DC5-C17A-E865-07BB4B57B4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91684E-EB56-4124-8041-6A1B491229A0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0CDBD7-3E4B-50B0-5CE2-CD639BE079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CAEE8-DD7C-1064-5ABE-D05E590558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A9C54E-6864-4280-816B-0F694C00E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349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jpg"/><Relationship Id="rId5" Type="http://schemas.openxmlformats.org/officeDocument/2006/relationships/image" Target="../media/image12.jpg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25.png"/><Relationship Id="rId7" Type="http://schemas.openxmlformats.org/officeDocument/2006/relationships/image" Target="../media/image21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dotnet/api/microsoft.analysisservices.tabular.function?view=analysisservices-dotnet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sqlbi.com/articles/introducing-user-defined-functions-in-dax/" TargetMode="Externa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daxlib.org/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ocs.daxlib.org/contribute/" TargetMode="Externa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sqlbi.com/dax-style/dax-naming-conventions#user-defined-functions" TargetMode="Externa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12" descr="A black circle with a white background&#10;&#10;Description automatically generated">
            <a:extLst>
              <a:ext uri="{FF2B5EF4-FFF2-40B4-BE49-F238E27FC236}">
                <a16:creationId xmlns:a16="http://schemas.microsoft.com/office/drawing/2014/main" id="{9E691635-4E7F-19C3-CC55-45588B23D3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9476" y="3258666"/>
            <a:ext cx="3461957" cy="994177"/>
          </a:xfrm>
          <a:prstGeom prst="rect">
            <a:avLst/>
          </a:prstGeom>
        </p:spPr>
      </p:pic>
      <p:pic>
        <p:nvPicPr>
          <p:cNvPr id="7" name="Picture 6" descr="A purple letters on a black background&#10;&#10;Description automatically generated">
            <a:extLst>
              <a:ext uri="{FF2B5EF4-FFF2-40B4-BE49-F238E27FC236}">
                <a16:creationId xmlns:a16="http://schemas.microsoft.com/office/drawing/2014/main" id="{75B76685-BB18-9D2B-AFCF-460E1FCCDB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1046" y="3077328"/>
            <a:ext cx="2860381" cy="1287172"/>
          </a:xfrm>
          <a:prstGeom prst="rect">
            <a:avLst/>
          </a:prstGeom>
        </p:spPr>
      </p:pic>
      <p:pic>
        <p:nvPicPr>
          <p:cNvPr id="8" name="Picture 7" descr="A black background with green text&#10;&#10;Description automatically generated">
            <a:extLst>
              <a:ext uri="{FF2B5EF4-FFF2-40B4-BE49-F238E27FC236}">
                <a16:creationId xmlns:a16="http://schemas.microsoft.com/office/drawing/2014/main" id="{CCA11777-87D5-5D18-C650-8FE81C4E6F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7760" y="1322516"/>
            <a:ext cx="3385391" cy="1861970"/>
          </a:xfrm>
          <a:prstGeom prst="rect">
            <a:avLst/>
          </a:prstGeom>
        </p:spPr>
      </p:pic>
      <p:pic>
        <p:nvPicPr>
          <p:cNvPr id="12" name="Picture 11" descr="A logo for a company&#10;&#10;Description automatically generated">
            <a:extLst>
              <a:ext uri="{FF2B5EF4-FFF2-40B4-BE49-F238E27FC236}">
                <a16:creationId xmlns:a16="http://schemas.microsoft.com/office/drawing/2014/main" id="{5AE9DB51-FD86-3A76-3931-B0AECB2F097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6927" y="5177319"/>
            <a:ext cx="2014019" cy="1208411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0749C7ED-A544-CDA2-935D-88275092009A}"/>
              </a:ext>
            </a:extLst>
          </p:cNvPr>
          <p:cNvSpPr txBox="1">
            <a:spLocks/>
          </p:cNvSpPr>
          <p:nvPr/>
        </p:nvSpPr>
        <p:spPr>
          <a:xfrm>
            <a:off x="838200" y="39513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/>
              <a:t>Big thank you to our great sponsors</a:t>
            </a:r>
          </a:p>
        </p:txBody>
      </p:sp>
      <p:pic>
        <p:nvPicPr>
          <p:cNvPr id="3" name="Picture 2" descr="A logo with pink and purple text&#10;&#10;AI-generated content may be incorrect.">
            <a:extLst>
              <a:ext uri="{FF2B5EF4-FFF2-40B4-BE49-F238E27FC236}">
                <a16:creationId xmlns:a16="http://schemas.microsoft.com/office/drawing/2014/main" id="{5837AE05-CA4D-0EFF-BCB4-73DF8613581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8542" y="1293917"/>
            <a:ext cx="3385391" cy="186196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1DE6966-03AD-4106-55BE-1B91C4CA575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7321" y="5551453"/>
            <a:ext cx="2316479" cy="460142"/>
          </a:xfrm>
          <a:prstGeom prst="rect">
            <a:avLst/>
          </a:prstGeom>
        </p:spPr>
      </p:pic>
      <p:pic>
        <p:nvPicPr>
          <p:cNvPr id="15" name="Picture 14" descr="A magnifying glass with colorful bars and text&#10;&#10;AI-generated content may be incorrect.">
            <a:extLst>
              <a:ext uri="{FF2B5EF4-FFF2-40B4-BE49-F238E27FC236}">
                <a16:creationId xmlns:a16="http://schemas.microsoft.com/office/drawing/2014/main" id="{78A524DB-1595-308C-C278-950E813BD3D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0963" y="4412636"/>
            <a:ext cx="2737777" cy="2737777"/>
          </a:xfrm>
          <a:prstGeom prst="rect">
            <a:avLst/>
          </a:prstGeom>
        </p:spPr>
      </p:pic>
      <p:pic>
        <p:nvPicPr>
          <p:cNvPr id="17" name="Picture 16" descr="A close up of a logo&#10;&#10;AI-generated content may be incorrect.">
            <a:extLst>
              <a:ext uri="{FF2B5EF4-FFF2-40B4-BE49-F238E27FC236}">
                <a16:creationId xmlns:a16="http://schemas.microsoft.com/office/drawing/2014/main" id="{5845E773-88E3-A5A7-A9F9-E669F73CDCF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9133" y="5019524"/>
            <a:ext cx="2540000" cy="1524000"/>
          </a:xfrm>
          <a:prstGeom prst="rect">
            <a:avLst/>
          </a:prstGeo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9EB8C86-B0AC-2D4B-FBE9-1C5BA109A92C}"/>
              </a:ext>
            </a:extLst>
          </p:cNvPr>
          <p:cNvCxnSpPr/>
          <p:nvPr/>
        </p:nvCxnSpPr>
        <p:spPr>
          <a:xfrm>
            <a:off x="310963" y="4595854"/>
            <a:ext cx="1164779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62296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3" name="Rectangle 1032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4C14FD-694C-77AA-60EF-4DF0ECEC3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4805"/>
            <a:ext cx="10515600" cy="150588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Raffle prizes from the sponsors</a:t>
            </a:r>
          </a:p>
        </p:txBody>
      </p:sp>
      <p:pic>
        <p:nvPicPr>
          <p:cNvPr id="8" name="Picture 7" descr="A green and black text&#10;&#10;Description automatically generated">
            <a:extLst>
              <a:ext uri="{FF2B5EF4-FFF2-40B4-BE49-F238E27FC236}">
                <a16:creationId xmlns:a16="http://schemas.microsoft.com/office/drawing/2014/main" id="{959370AC-F1DD-BBEE-3488-AB152A0567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797" y="5413631"/>
            <a:ext cx="3269622" cy="10403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8B8F277-0B70-0C9E-129E-AC2A79E187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6887" y="1416887"/>
            <a:ext cx="2517577" cy="2077065"/>
          </a:xfrm>
          <a:prstGeom prst="rect">
            <a:avLst/>
          </a:prstGeom>
        </p:spPr>
      </p:pic>
      <p:pic>
        <p:nvPicPr>
          <p:cNvPr id="12" name="Picture 11" descr="A lego train with people standing next to it&#10;&#10;AI-generated content may be incorrect.">
            <a:extLst>
              <a:ext uri="{FF2B5EF4-FFF2-40B4-BE49-F238E27FC236}">
                <a16:creationId xmlns:a16="http://schemas.microsoft.com/office/drawing/2014/main" id="{1B0D7DD5-D9FB-46DE-B6FF-FA460B703FA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355" y="1751303"/>
            <a:ext cx="2731628" cy="2006505"/>
          </a:xfrm>
          <a:prstGeom prst="rect">
            <a:avLst/>
          </a:prstGeom>
        </p:spPr>
      </p:pic>
      <p:pic>
        <p:nvPicPr>
          <p:cNvPr id="4" name="Picture 3" descr="A white drone with a camera&#10;&#10;AI-generated content may be incorrect.">
            <a:extLst>
              <a:ext uri="{FF2B5EF4-FFF2-40B4-BE49-F238E27FC236}">
                <a16:creationId xmlns:a16="http://schemas.microsoft.com/office/drawing/2014/main" id="{1E6A2247-0C35-E1FF-2750-6FF72FF1CB0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0932" y="2316098"/>
            <a:ext cx="3140943" cy="2355707"/>
          </a:xfrm>
          <a:prstGeom prst="rect">
            <a:avLst/>
          </a:prstGeom>
        </p:spPr>
      </p:pic>
      <p:pic>
        <p:nvPicPr>
          <p:cNvPr id="7" name="Picture 6" descr="A box of a toy car&#10;&#10;AI-generated content may be incorrect.">
            <a:extLst>
              <a:ext uri="{FF2B5EF4-FFF2-40B4-BE49-F238E27FC236}">
                <a16:creationId xmlns:a16="http://schemas.microsoft.com/office/drawing/2014/main" id="{B085C66D-F77A-9015-BBC1-A2FDF030C08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3054" y="4562685"/>
            <a:ext cx="2621057" cy="1891281"/>
          </a:xfrm>
          <a:prstGeom prst="rect">
            <a:avLst/>
          </a:prstGeom>
        </p:spPr>
      </p:pic>
      <p:pic>
        <p:nvPicPr>
          <p:cNvPr id="15" name="Picture 14" descr="A close up of a speaker&#10;&#10;AI-generated content may be incorrect.">
            <a:extLst>
              <a:ext uri="{FF2B5EF4-FFF2-40B4-BE49-F238E27FC236}">
                <a16:creationId xmlns:a16="http://schemas.microsoft.com/office/drawing/2014/main" id="{B3A5F601-8F00-D1A8-89E4-5647327F2F5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1233" y="1605857"/>
            <a:ext cx="1317872" cy="3646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1669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White jigsaw puzzle and one final piece being added">
            <a:extLst>
              <a:ext uri="{FF2B5EF4-FFF2-40B4-BE49-F238E27FC236}">
                <a16:creationId xmlns:a16="http://schemas.microsoft.com/office/drawing/2014/main" id="{B60AA0B2-0955-66A3-9FEC-A57B62EB68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69" r="13818" b="7722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2EEB7E5-E42C-B72A-B987-745617A8A7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pPr algn="l"/>
            <a:r>
              <a:rPr lang="en-GB" sz="4800" dirty="0"/>
              <a:t>Demystifying DAX UDFs</a:t>
            </a:r>
            <a:endParaRPr lang="en-US" sz="4800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275D06AE-05BC-E2D3-7998-D7DC0D908B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2972003" cy="1208141"/>
          </a:xfrm>
        </p:spPr>
        <p:txBody>
          <a:bodyPr>
            <a:normAutofit/>
          </a:bodyPr>
          <a:lstStyle/>
          <a:p>
            <a:pPr algn="l"/>
            <a:r>
              <a:rPr lang="en-GB" sz="2000" b="1" dirty="0"/>
              <a:t>The Future of Reusable Business Logic</a:t>
            </a:r>
            <a:endParaRPr lang="en-GB" sz="2000" dirty="0"/>
          </a:p>
          <a:p>
            <a:pPr algn="l"/>
            <a:endParaRPr lang="en-US" sz="20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ACFB4B-C2A6-2DB3-8741-FF65C880A9E2}"/>
              </a:ext>
            </a:extLst>
          </p:cNvPr>
          <p:cNvSpPr txBox="1"/>
          <p:nvPr/>
        </p:nvSpPr>
        <p:spPr>
          <a:xfrm>
            <a:off x="477980" y="445286"/>
            <a:ext cx="17640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Power BI Next Step</a:t>
            </a:r>
            <a:br>
              <a:rPr lang="en-GB" sz="1400" dirty="0"/>
            </a:br>
            <a:r>
              <a:rPr lang="en-GB" sz="1400" dirty="0"/>
              <a:t>September 23</a:t>
            </a:r>
            <a:r>
              <a:rPr lang="en-GB" sz="1400" baseline="30000" dirty="0"/>
              <a:t>rd</a:t>
            </a:r>
            <a:r>
              <a:rPr lang="en-GB" sz="1400" dirty="0"/>
              <a:t>, 2025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1068981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4157E2-6054-D828-57CC-4E8D77711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dirty="0"/>
              <a:t>About me</a:t>
            </a:r>
          </a:p>
        </p:txBody>
      </p:sp>
      <p:pic>
        <p:nvPicPr>
          <p:cNvPr id="13" name="Content Placeholder 12" descr="A person wearing glasses and a green shirt&#10;&#10;AI-generated content may be incorrect.">
            <a:extLst>
              <a:ext uri="{FF2B5EF4-FFF2-40B4-BE49-F238E27FC236}">
                <a16:creationId xmlns:a16="http://schemas.microsoft.com/office/drawing/2014/main" id="{3CFBAECA-6B2E-73CD-D7ED-D192393219E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16" r="18466" b="-1"/>
          <a:stretch>
            <a:fillRect/>
          </a:stretch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21B6A37-FB0B-E059-4716-E8F521A7F8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97762" y="2706624"/>
            <a:ext cx="6251110" cy="348386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200" dirty="0"/>
              <a:t>Daniel Otykier</a:t>
            </a:r>
          </a:p>
          <a:p>
            <a:r>
              <a:rPr lang="en-US" sz="2200" dirty="0"/>
              <a:t>CTO @ Tabular Editor </a:t>
            </a:r>
            <a:r>
              <a:rPr lang="en-US" sz="2200" dirty="0" err="1"/>
              <a:t>ApS</a:t>
            </a:r>
            <a:endParaRPr lang="en-US" sz="2200" dirty="0"/>
          </a:p>
          <a:p>
            <a:r>
              <a:rPr lang="en-US" sz="2200" dirty="0"/>
              <a:t>6x Microsoft MVP</a:t>
            </a:r>
          </a:p>
          <a:p>
            <a:r>
              <a:rPr lang="en-US" sz="2200" dirty="0"/>
              <a:t>Power BI Contributor</a:t>
            </a:r>
          </a:p>
          <a:p>
            <a:r>
              <a:rPr lang="en-US" sz="2200" dirty="0"/>
              <a:t>Hates duplicated code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FCEB8D2-7E32-8175-8FCF-3A2BD7C112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259814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800876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A1E8C-9CB5-64AD-2E81-F5AB1C8CBC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Agenda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25F0B7-ED56-E913-B359-E8766941CB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Why DAX UDFs?</a:t>
            </a:r>
          </a:p>
          <a:p>
            <a:r>
              <a:rPr lang="en-GB" dirty="0"/>
              <a:t>How do they work? </a:t>
            </a:r>
          </a:p>
          <a:p>
            <a:r>
              <a:rPr lang="en-GB" dirty="0"/>
              <a:t>Understanding parameters</a:t>
            </a:r>
          </a:p>
          <a:p>
            <a:r>
              <a:rPr lang="en-GB" dirty="0"/>
              <a:t>Creating and using UDFs	</a:t>
            </a:r>
          </a:p>
          <a:p>
            <a:pPr lvl="1"/>
            <a:r>
              <a:rPr lang="en-GB" dirty="0"/>
              <a:t>Power BI Desktop</a:t>
            </a:r>
          </a:p>
          <a:p>
            <a:pPr lvl="1"/>
            <a:r>
              <a:rPr lang="en-GB" dirty="0"/>
              <a:t>External tools</a:t>
            </a:r>
          </a:p>
          <a:p>
            <a:r>
              <a:rPr lang="en-GB" dirty="0"/>
              <a:t>Practical examples</a:t>
            </a:r>
          </a:p>
          <a:p>
            <a:r>
              <a:rPr lang="en-GB" dirty="0"/>
              <a:t>Community innovation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71597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981D7-2FBD-EDE8-45B5-54758D2179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DAX UDFs?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2AC38A-310C-E29D-0894-F3662B67B5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25384"/>
          </a:xfrm>
        </p:spPr>
        <p:txBody>
          <a:bodyPr>
            <a:normAutofit fontScale="92500" lnSpcReduction="10000"/>
          </a:bodyPr>
          <a:lstStyle/>
          <a:p>
            <a:r>
              <a:rPr lang="en-GB" dirty="0"/>
              <a:t>DAX is </a:t>
            </a:r>
            <a:r>
              <a:rPr lang="en-GB" b="1" dirty="0"/>
              <a:t>simple</a:t>
            </a:r>
            <a:r>
              <a:rPr lang="en-GB" dirty="0"/>
              <a:t> but it’s </a:t>
            </a:r>
            <a:r>
              <a:rPr lang="en-GB" b="1" dirty="0"/>
              <a:t>not easy</a:t>
            </a:r>
            <a:endParaRPr lang="en-GB" dirty="0"/>
          </a:p>
          <a:p>
            <a:r>
              <a:rPr lang="en-GB" dirty="0"/>
              <a:t>Until now, </a:t>
            </a:r>
            <a:r>
              <a:rPr lang="en-GB" b="1" dirty="0"/>
              <a:t>complex logic </a:t>
            </a:r>
            <a:r>
              <a:rPr lang="en-GB" dirty="0"/>
              <a:t>had to be </a:t>
            </a:r>
            <a:r>
              <a:rPr lang="en-GB" b="1" dirty="0"/>
              <a:t>expressed in measures</a:t>
            </a:r>
          </a:p>
          <a:p>
            <a:r>
              <a:rPr lang="en-GB" dirty="0"/>
              <a:t>Measures can </a:t>
            </a:r>
            <a:r>
              <a:rPr lang="en-GB" b="1" dirty="0"/>
              <a:t>reference other measures</a:t>
            </a:r>
            <a:r>
              <a:rPr lang="en-GB" dirty="0"/>
              <a:t>, but…</a:t>
            </a:r>
          </a:p>
          <a:p>
            <a:pPr lvl="1"/>
            <a:r>
              <a:rPr lang="en-GB" dirty="0"/>
              <a:t>Measures can only return scalar values (Int64, Float, </a:t>
            </a:r>
            <a:r>
              <a:rPr lang="en-GB" dirty="0" err="1"/>
              <a:t>DateTime</a:t>
            </a:r>
            <a:r>
              <a:rPr lang="en-GB" dirty="0"/>
              <a:t>, String, etc.)</a:t>
            </a:r>
          </a:p>
          <a:p>
            <a:pPr lvl="1"/>
            <a:r>
              <a:rPr lang="en-US" dirty="0"/>
              <a:t>A measure in a specific filter context always returns the same result (no parameters)</a:t>
            </a:r>
          </a:p>
          <a:p>
            <a:r>
              <a:rPr lang="en-US" b="1" dirty="0"/>
              <a:t>Calculation groups</a:t>
            </a:r>
            <a:r>
              <a:rPr lang="en-US" dirty="0"/>
              <a:t> permit some logic reuse across all measures, but…</a:t>
            </a:r>
          </a:p>
          <a:p>
            <a:pPr lvl="1"/>
            <a:r>
              <a:rPr lang="en-US" dirty="0"/>
              <a:t>Requires user selection</a:t>
            </a:r>
          </a:p>
          <a:p>
            <a:pPr lvl="1"/>
            <a:r>
              <a:rPr lang="en-US" dirty="0"/>
              <a:t>Complex code needed to limit logic to some measures only</a:t>
            </a:r>
          </a:p>
          <a:p>
            <a:pPr lvl="1"/>
            <a:r>
              <a:rPr lang="en-US" dirty="0"/>
              <a:t>May cause data type decay which breaks some visuals</a:t>
            </a:r>
          </a:p>
          <a:p>
            <a:pPr lvl="1"/>
            <a:r>
              <a:rPr lang="en-US" dirty="0"/>
              <a:t>Performance hit</a:t>
            </a:r>
          </a:p>
          <a:p>
            <a:r>
              <a:rPr lang="en-US" dirty="0"/>
              <a:t>Most </a:t>
            </a:r>
            <a:r>
              <a:rPr lang="en-US" b="1" dirty="0"/>
              <a:t>other languages </a:t>
            </a:r>
            <a:r>
              <a:rPr lang="en-US" dirty="0"/>
              <a:t>let you define your own functions; M, Python, SQL, even MDX.</a:t>
            </a:r>
          </a:p>
        </p:txBody>
      </p:sp>
    </p:spTree>
    <p:extLst>
      <p:ext uri="{BB962C8B-B14F-4D97-AF65-F5344CB8AC3E}">
        <p14:creationId xmlns:p14="http://schemas.microsoft.com/office/powerpoint/2010/main" val="3706908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7B10F-EC71-00DD-67E4-CAF5EDF71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Enter DAX User-Defined Functions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395D4E-BB05-6F3C-3698-3D60478350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First class model object (“Function”)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B4AC56E-E7A0-557E-1EEA-7599ED8F88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8294" y="1613800"/>
            <a:ext cx="2551122" cy="487907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1584342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1EB14F-E167-C942-A180-D5C6A040B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E0A2C-92E6-7CBF-4F5B-34B41A11E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Enter DAX User-Defined Functions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7CE955-20FD-E4EC-5D7B-51E232E0EE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First class model object (“Function”)</a:t>
            </a:r>
          </a:p>
          <a:p>
            <a:r>
              <a:rPr lang="en-GB" dirty="0"/>
              <a:t>Can be created through…</a:t>
            </a:r>
          </a:p>
          <a:p>
            <a:pPr lvl="1"/>
            <a:r>
              <a:rPr lang="en-GB" dirty="0"/>
              <a:t>DAX Query view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412EA83-154A-D35A-D3A4-79EF8449DC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1379" y="3644795"/>
            <a:ext cx="9312322" cy="233880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579324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DFC76-3F1E-3FBA-3197-851B2CEF9B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CC94E-353C-0557-DC18-91AFE6771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Enter DAX User-Defined Functions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E48F01-0138-8641-78F7-C835A53644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First class model object (“Function”)</a:t>
            </a:r>
          </a:p>
          <a:p>
            <a:r>
              <a:rPr lang="en-GB" dirty="0"/>
              <a:t>Can be created through…</a:t>
            </a:r>
          </a:p>
          <a:p>
            <a:pPr lvl="1"/>
            <a:r>
              <a:rPr lang="en-GB" dirty="0"/>
              <a:t>DAX Query view</a:t>
            </a:r>
          </a:p>
          <a:p>
            <a:pPr lvl="1"/>
            <a:r>
              <a:rPr lang="en-GB" dirty="0"/>
              <a:t>TMDL view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2CAE39-27D6-8218-4A39-ACA6FE2CF8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5886" y="2506662"/>
            <a:ext cx="6343486" cy="406475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6741952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DEA0A0-1F3C-061B-9496-63847D9A0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19AC0-6E10-06AA-DB89-77AC14197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Enter DAX User-Defined Functions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5ACFB-880E-CD3A-97F9-A9E05F4745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First class model object (“Function”)</a:t>
            </a:r>
          </a:p>
          <a:p>
            <a:r>
              <a:rPr lang="en-GB" dirty="0"/>
              <a:t>Can be created through…</a:t>
            </a:r>
          </a:p>
          <a:p>
            <a:pPr lvl="1"/>
            <a:r>
              <a:rPr lang="en-GB" dirty="0"/>
              <a:t>DAX Query view</a:t>
            </a:r>
          </a:p>
          <a:p>
            <a:pPr lvl="1"/>
            <a:r>
              <a:rPr lang="en-GB" dirty="0"/>
              <a:t>TMDL view</a:t>
            </a:r>
          </a:p>
          <a:p>
            <a:pPr lvl="1"/>
            <a:r>
              <a:rPr lang="en-GB" dirty="0"/>
              <a:t>External tools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8513E43-AACF-0FE4-8156-8A2B6D567C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5015" y="2579426"/>
            <a:ext cx="5805791" cy="381454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9962162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7C338D-CDC1-603F-6393-6DDC7403D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0E09B-92C3-5635-8468-83574DD2C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Enter DAX User-Defined Functions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A0E0C0-0E40-F66B-4129-D4DA56FBBD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First class model object (“Function”)</a:t>
            </a:r>
          </a:p>
          <a:p>
            <a:r>
              <a:rPr lang="en-GB" dirty="0"/>
              <a:t>Can be created through…</a:t>
            </a:r>
          </a:p>
          <a:p>
            <a:pPr lvl="1"/>
            <a:r>
              <a:rPr lang="en-GB" dirty="0"/>
              <a:t>DAX Query view</a:t>
            </a:r>
          </a:p>
          <a:p>
            <a:pPr lvl="1"/>
            <a:r>
              <a:rPr lang="en-GB" dirty="0"/>
              <a:t>TMDL view</a:t>
            </a:r>
          </a:p>
          <a:p>
            <a:pPr lvl="1"/>
            <a:r>
              <a:rPr lang="en-GB" dirty="0"/>
              <a:t>External tools</a:t>
            </a:r>
          </a:p>
          <a:p>
            <a:r>
              <a:rPr lang="en-US" dirty="0"/>
              <a:t>Can return scalar or table values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4AFE22-4B99-B3B9-8B19-E6218E2E65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9569" y="1825625"/>
            <a:ext cx="4526688" cy="454710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307125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19653-E593-F4A9-E66D-9EC96593B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681E2-E7BB-703A-91E5-AE1EF6488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Enter DAX User-Defined Functions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276298-4579-F64E-72C1-040DB99A02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First class model object (“Function”)</a:t>
            </a:r>
          </a:p>
          <a:p>
            <a:r>
              <a:rPr lang="en-GB" dirty="0"/>
              <a:t>Can be created through…</a:t>
            </a:r>
          </a:p>
          <a:p>
            <a:pPr lvl="1"/>
            <a:r>
              <a:rPr lang="en-GB" dirty="0"/>
              <a:t>DAX Query view</a:t>
            </a:r>
          </a:p>
          <a:p>
            <a:pPr lvl="1"/>
            <a:r>
              <a:rPr lang="en-GB" dirty="0"/>
              <a:t>TMDL view</a:t>
            </a:r>
          </a:p>
          <a:p>
            <a:pPr lvl="1"/>
            <a:r>
              <a:rPr lang="en-GB" dirty="0"/>
              <a:t>External tools</a:t>
            </a:r>
          </a:p>
          <a:p>
            <a:r>
              <a:rPr lang="en-US" dirty="0"/>
              <a:t>Can return scalar or table values</a:t>
            </a:r>
          </a:p>
          <a:p>
            <a:r>
              <a:rPr lang="en-US" dirty="0"/>
              <a:t>Parameters can be scalar or table</a:t>
            </a:r>
            <a:br>
              <a:rPr lang="en-US" dirty="0"/>
            </a:br>
            <a:r>
              <a:rPr lang="en-US" dirty="0"/>
              <a:t>values, or object references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D95E5E-5746-8C70-C8B5-AFBC49346D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6362" y="2389732"/>
            <a:ext cx="5030685" cy="336052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787545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CCE895-9BB6-AC1B-EA01-12BBB82927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ADA2A-4637-7250-C439-BC7A4D868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Enter DAX User-Defined Functions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F3D0E6-97D3-8904-54F4-DFB03246EC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43581"/>
          </a:xfrm>
        </p:spPr>
        <p:txBody>
          <a:bodyPr/>
          <a:lstStyle/>
          <a:p>
            <a:r>
              <a:rPr lang="en-GB" dirty="0"/>
              <a:t>First class model object (“Function”)</a:t>
            </a:r>
          </a:p>
          <a:p>
            <a:r>
              <a:rPr lang="en-GB" dirty="0"/>
              <a:t>Can be created through…</a:t>
            </a:r>
          </a:p>
          <a:p>
            <a:pPr lvl="1"/>
            <a:r>
              <a:rPr lang="en-GB" dirty="0"/>
              <a:t>DAX Query view</a:t>
            </a:r>
          </a:p>
          <a:p>
            <a:pPr lvl="1"/>
            <a:r>
              <a:rPr lang="en-GB" dirty="0"/>
              <a:t>TMDL view</a:t>
            </a:r>
          </a:p>
          <a:p>
            <a:pPr lvl="1"/>
            <a:r>
              <a:rPr lang="en-GB" dirty="0"/>
              <a:t>External tools</a:t>
            </a:r>
          </a:p>
          <a:p>
            <a:r>
              <a:rPr lang="en-US" dirty="0"/>
              <a:t>Can return scalar or table values</a:t>
            </a:r>
          </a:p>
          <a:p>
            <a:r>
              <a:rPr lang="en-US" dirty="0"/>
              <a:t>Parameters can be scalar or table</a:t>
            </a:r>
            <a:br>
              <a:rPr lang="en-US" dirty="0"/>
            </a:br>
            <a:r>
              <a:rPr lang="en-US" dirty="0"/>
              <a:t>values, or object references</a:t>
            </a:r>
          </a:p>
          <a:p>
            <a:r>
              <a:rPr lang="en-US" dirty="0"/>
              <a:t>Can be called from anywhere (including other UDFs and Visual Calculations)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28530E-1612-5698-A651-91C9593CF3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1773" y="2193692"/>
            <a:ext cx="4893057" cy="274735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186770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45F8B17-DDAE-1F4F-D0F1-B29603C1C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1C5C2-DD0F-B753-26A1-DC4C6F673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do they work?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0073B5-A454-B726-8F1C-7E369AAF10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New type of model </a:t>
            </a:r>
            <a:r>
              <a:rPr lang="en-GB" b="1" dirty="0"/>
              <a:t>object</a:t>
            </a:r>
            <a:r>
              <a:rPr lang="en-GB" dirty="0"/>
              <a:t>: “Function”</a:t>
            </a:r>
          </a:p>
          <a:p>
            <a:r>
              <a:rPr lang="en-GB" dirty="0"/>
              <a:t>Expressed using DAX</a:t>
            </a:r>
          </a:p>
          <a:p>
            <a:r>
              <a:rPr lang="en-GB" dirty="0"/>
              <a:t>Can be called from any DAX expression…</a:t>
            </a:r>
          </a:p>
          <a:p>
            <a:pPr lvl="1"/>
            <a:r>
              <a:rPr lang="en-GB" dirty="0"/>
              <a:t>…in other model objects (even other functions)</a:t>
            </a:r>
          </a:p>
          <a:p>
            <a:pPr lvl="1"/>
            <a:r>
              <a:rPr lang="en-GB" dirty="0"/>
              <a:t>…in DAX queries</a:t>
            </a:r>
          </a:p>
          <a:p>
            <a:pPr lvl="1"/>
            <a:r>
              <a:rPr lang="en-GB" dirty="0"/>
              <a:t>…in Visual Calculations</a:t>
            </a:r>
          </a:p>
          <a:p>
            <a:r>
              <a:rPr lang="en-GB" dirty="0"/>
              <a:t>Can return </a:t>
            </a:r>
            <a:r>
              <a:rPr lang="en-GB" b="1" dirty="0"/>
              <a:t>scalar values </a:t>
            </a:r>
            <a:r>
              <a:rPr lang="en-GB" dirty="0"/>
              <a:t>or </a:t>
            </a:r>
            <a:r>
              <a:rPr lang="en-GB" b="1" dirty="0"/>
              <a:t>tables</a:t>
            </a:r>
          </a:p>
          <a:p>
            <a:r>
              <a:rPr lang="en-GB" dirty="0"/>
              <a:t>Can have custom parameters</a:t>
            </a:r>
          </a:p>
          <a:p>
            <a:pPr lvl="1"/>
            <a:r>
              <a:rPr lang="en-GB" dirty="0"/>
              <a:t>Scalar values</a:t>
            </a:r>
          </a:p>
          <a:p>
            <a:pPr lvl="1"/>
            <a:r>
              <a:rPr lang="en-GB" dirty="0"/>
              <a:t>Tables</a:t>
            </a:r>
          </a:p>
          <a:p>
            <a:pPr lvl="1"/>
            <a:r>
              <a:rPr lang="en-GB" dirty="0"/>
              <a:t>Object references</a:t>
            </a:r>
          </a:p>
          <a:p>
            <a:pPr lvl="1"/>
            <a:r>
              <a:rPr lang="en-GB" dirty="0"/>
              <a:t>Expressions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25E086-CB70-0503-C11B-EB2AF938E2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0471" y="609469"/>
            <a:ext cx="4406108" cy="5229497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noFill/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57DF960-CF64-8A1C-BA3B-A098A714C3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8934" y="1171855"/>
            <a:ext cx="5506937" cy="266629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18DFC31-3538-B0D2-0011-850A40ED0D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9855" y="1259658"/>
            <a:ext cx="5012976" cy="146315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F066D54-D8BC-F344-CC6C-5D6A87698B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9097" y="3488499"/>
            <a:ext cx="6805749" cy="231275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FEABCCF-BD96-A56D-3373-95A75508AD3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18400" y="1957131"/>
            <a:ext cx="4893057" cy="274735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8F6CE20-864A-E9F9-0357-3A6DCE5D9D2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98998" y="2811752"/>
            <a:ext cx="3481013" cy="349671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B66C9BF-E9B2-A0E0-FCE3-44530DA239F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81535" y="3028077"/>
            <a:ext cx="4460875" cy="2979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2567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C3ACE-2F69-6EB2-228D-F194FFB37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do they work?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83CF38-54BF-6A1F-244A-06B577A03B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Enable preview feature</a:t>
            </a:r>
          </a:p>
          <a:p>
            <a:r>
              <a:rPr lang="en-GB" dirty="0"/>
              <a:t>Compatibility Level 1702</a:t>
            </a:r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F9E3C1D-C98B-93D9-17B3-7AF148B47AA4}"/>
              </a:ext>
            </a:extLst>
          </p:cNvPr>
          <p:cNvGrpSpPr/>
          <p:nvPr/>
        </p:nvGrpSpPr>
        <p:grpSpPr>
          <a:xfrm>
            <a:off x="2079009" y="3170830"/>
            <a:ext cx="8106772" cy="3414934"/>
            <a:chOff x="1364386" y="2762220"/>
            <a:chExt cx="9363143" cy="409578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0FEB37B-AD42-6B7A-D44D-74987D2BFF6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64386" y="2762220"/>
              <a:ext cx="9363143" cy="4095780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BDC2E73-2F9D-42A5-1DC0-74A3869616F6}"/>
                </a:ext>
              </a:extLst>
            </p:cNvPr>
            <p:cNvSpPr/>
            <p:nvPr/>
          </p:nvSpPr>
          <p:spPr>
            <a:xfrm>
              <a:off x="3616657" y="5832144"/>
              <a:ext cx="2643117" cy="376664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953522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94F8A-A16F-B5AB-5D38-17CBF74C5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Demo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2D1652-149B-24D6-99D3-D2CC08B44D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Setting up and creating your first UDF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41534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A0BFB-65E6-4276-AEAE-0D2837B38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do they work?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891277-6E54-A359-1C56-31200D9236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456894"/>
          </a:xfrm>
        </p:spPr>
        <p:txBody>
          <a:bodyPr/>
          <a:lstStyle/>
          <a:p>
            <a:r>
              <a:rPr lang="en-GB" b="1" dirty="0">
                <a:hlinkClick r:id="rId3"/>
              </a:rPr>
              <a:t>Function</a:t>
            </a:r>
            <a:r>
              <a:rPr lang="en-GB" dirty="0"/>
              <a:t> object properties:</a:t>
            </a:r>
          </a:p>
          <a:p>
            <a:pPr lvl="1"/>
            <a:r>
              <a:rPr lang="en-US" dirty="0"/>
              <a:t>Name</a:t>
            </a:r>
          </a:p>
          <a:p>
            <a:pPr lvl="1"/>
            <a:r>
              <a:rPr lang="en-US" dirty="0"/>
              <a:t>Description</a:t>
            </a:r>
          </a:p>
          <a:p>
            <a:pPr lvl="1"/>
            <a:r>
              <a:rPr lang="en-US" dirty="0" err="1"/>
              <a:t>IsHidden</a:t>
            </a:r>
            <a:endParaRPr lang="en-US" dirty="0"/>
          </a:p>
          <a:p>
            <a:pPr lvl="1"/>
            <a:r>
              <a:rPr lang="en-US" dirty="0"/>
              <a:t>Expression</a:t>
            </a:r>
          </a:p>
          <a:p>
            <a:r>
              <a:rPr lang="en-US" dirty="0"/>
              <a:t>Special syntax: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FC7DA0-3447-12FA-F725-C452936A798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901" t="5158" r="1047" b="4045"/>
          <a:stretch>
            <a:fillRect/>
          </a:stretch>
        </p:blipFill>
        <p:spPr>
          <a:xfrm>
            <a:off x="1187356" y="4530135"/>
            <a:ext cx="9357815" cy="136206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F353B4C-029E-4143-8496-5F5473ABF159}"/>
              </a:ext>
            </a:extLst>
          </p:cNvPr>
          <p:cNvSpPr txBox="1"/>
          <p:nvPr/>
        </p:nvSpPr>
        <p:spPr>
          <a:xfrm>
            <a:off x="1056564" y="5982269"/>
            <a:ext cx="62981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Note: </a:t>
            </a:r>
            <a:r>
              <a:rPr lang="en-GB" dirty="0"/>
              <a:t>Only the code after “=“ is stored in the Expression property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25438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7E6A4C-2881-5430-B03F-0999AAD93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9CC41-29AD-E437-0515-340AD4FBC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Demo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A0067E-49D5-7255-DE96-39CADE39E4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Creating UDFs in external tools (Tabular Editor)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48219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9AC65-282F-08E5-0B8D-5B0582E78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do they work?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47449D-136B-7F96-3FCB-92AE353ED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34482"/>
          </a:xfrm>
        </p:spPr>
        <p:txBody>
          <a:bodyPr>
            <a:normAutofit/>
          </a:bodyPr>
          <a:lstStyle/>
          <a:p>
            <a:r>
              <a:rPr lang="en-GB" dirty="0"/>
              <a:t>Invoke UDFs just like built-in DAX functions…</a:t>
            </a:r>
            <a:endParaRPr lang="en-US" dirty="0"/>
          </a:p>
          <a:p>
            <a:pPr lvl="1"/>
            <a:r>
              <a:rPr lang="en-US" dirty="0"/>
              <a:t>…in DAX queries</a:t>
            </a:r>
          </a:p>
          <a:p>
            <a:pPr lvl="1"/>
            <a:r>
              <a:rPr lang="en-US" dirty="0"/>
              <a:t>…in measures (model-scoped or report-level*)</a:t>
            </a:r>
          </a:p>
          <a:p>
            <a:pPr lvl="1"/>
            <a:r>
              <a:rPr lang="en-US" dirty="0"/>
              <a:t>…in calculated columns / tables</a:t>
            </a:r>
          </a:p>
          <a:p>
            <a:pPr lvl="1"/>
            <a:r>
              <a:rPr lang="en-US" dirty="0"/>
              <a:t>…in calculation groups</a:t>
            </a:r>
          </a:p>
          <a:p>
            <a:pPr lvl="1"/>
            <a:r>
              <a:rPr lang="en-US" dirty="0"/>
              <a:t>…in RLS filter expressions</a:t>
            </a:r>
          </a:p>
          <a:p>
            <a:pPr lvl="1"/>
            <a:r>
              <a:rPr lang="en-US" dirty="0"/>
              <a:t>…in Visual Calculations</a:t>
            </a:r>
          </a:p>
          <a:p>
            <a:pPr marL="0" indent="0">
              <a:buNone/>
            </a:pPr>
            <a:br>
              <a:rPr lang="en-GB" dirty="0"/>
            </a:br>
            <a:br>
              <a:rPr lang="en-GB" dirty="0"/>
            </a:br>
            <a:br>
              <a:rPr lang="en-GB" dirty="0"/>
            </a:br>
            <a:r>
              <a:rPr lang="en-GB" sz="1800" dirty="0"/>
              <a:t>*Buggy IntelliSense / UDFs currently do not show up in Model View while live connected to a model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15723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A3115-420F-B2A0-04EA-E53FB3750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do they work?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C41326-3DFF-927B-234D-D088103FF1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20835"/>
          </a:xfrm>
        </p:spPr>
        <p:txBody>
          <a:bodyPr>
            <a:normAutofit/>
          </a:bodyPr>
          <a:lstStyle/>
          <a:p>
            <a:r>
              <a:rPr lang="en-GB" sz="2400" dirty="0"/>
              <a:t>Helpful to think of them as “macro expansions” (aka. “</a:t>
            </a:r>
            <a:r>
              <a:rPr lang="en-GB" sz="2400" dirty="0" err="1"/>
              <a:t>inlined</a:t>
            </a:r>
            <a:r>
              <a:rPr lang="en-GB" sz="2400" dirty="0"/>
              <a:t> at runtime”)</a:t>
            </a:r>
          </a:p>
          <a:p>
            <a:endParaRPr lang="en-GB" sz="2400" dirty="0"/>
          </a:p>
          <a:p>
            <a:endParaRPr lang="en-GB" sz="2400" dirty="0"/>
          </a:p>
          <a:p>
            <a:endParaRPr lang="en-GB" sz="2400" dirty="0"/>
          </a:p>
          <a:p>
            <a:endParaRPr lang="en-GB" sz="2400" dirty="0"/>
          </a:p>
          <a:p>
            <a:endParaRPr lang="en-GB" sz="2400" dirty="0"/>
          </a:p>
          <a:p>
            <a:endParaRPr lang="en-GB" sz="2400" dirty="0"/>
          </a:p>
          <a:p>
            <a:endParaRPr lang="en-GB" sz="2400" dirty="0"/>
          </a:p>
          <a:p>
            <a:endParaRPr lang="en-GB" sz="2400" dirty="0"/>
          </a:p>
          <a:p>
            <a:r>
              <a:rPr lang="en-GB" sz="2400" dirty="0"/>
              <a:t>Recursion not allowed!</a:t>
            </a:r>
          </a:p>
          <a:p>
            <a:endParaRPr lang="en-US" sz="24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D064813-D64D-94FF-B577-D43C2F8837B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22" b="2"/>
          <a:stretch>
            <a:fillRect/>
          </a:stretch>
        </p:blipFill>
        <p:spPr>
          <a:xfrm>
            <a:off x="1722559" y="2588658"/>
            <a:ext cx="2825442" cy="274398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11F95051-7103-C3D2-2F34-98C3259004DE}"/>
              </a:ext>
            </a:extLst>
          </p:cNvPr>
          <p:cNvSpPr/>
          <p:nvPr/>
        </p:nvSpPr>
        <p:spPr>
          <a:xfrm>
            <a:off x="5431809" y="3447196"/>
            <a:ext cx="960865" cy="101562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FF03894-1448-0D18-251A-E7AE4857C1F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988"/>
          <a:stretch>
            <a:fillRect/>
          </a:stretch>
        </p:blipFill>
        <p:spPr>
          <a:xfrm>
            <a:off x="7141633" y="2463837"/>
            <a:ext cx="3103369" cy="284969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069694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884E1-8FCD-B933-873E-D18BD5EFE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Demo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1F58CF-A4D6-43B0-1AF8-0B16BF5619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UDF invocations and inlining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43585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BA538-A045-28CB-25BF-9B0789882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Understanding parameters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84D2AB-6650-83F4-C762-5A00C12C6B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GB" dirty="0"/>
              <a:t>Two types of parameters:</a:t>
            </a:r>
            <a:endParaRPr lang="en-GB" b="1" dirty="0"/>
          </a:p>
          <a:p>
            <a:pPr lvl="1"/>
            <a:endParaRPr lang="en-GB" dirty="0"/>
          </a:p>
          <a:p>
            <a:r>
              <a:rPr lang="en-GB" b="1" dirty="0"/>
              <a:t>(Default) Value parameter</a:t>
            </a:r>
            <a:r>
              <a:rPr lang="en-GB" dirty="0"/>
              <a:t> (aka. “eager evaluation”)</a:t>
            </a:r>
          </a:p>
          <a:p>
            <a:pPr lvl="1"/>
            <a:r>
              <a:rPr lang="en-GB" dirty="0"/>
              <a:t>Evaluated immediately when function is called</a:t>
            </a:r>
          </a:p>
          <a:p>
            <a:pPr lvl="1"/>
            <a:r>
              <a:rPr lang="en-GB" dirty="0"/>
              <a:t>Passed to the function as a </a:t>
            </a:r>
            <a:r>
              <a:rPr lang="en-GB" b="1" dirty="0"/>
              <a:t>constant value </a:t>
            </a:r>
            <a:r>
              <a:rPr lang="en-GB" dirty="0"/>
              <a:t>(always produces the same result inside the function body)</a:t>
            </a:r>
            <a:endParaRPr lang="en-GB" b="1" dirty="0"/>
          </a:p>
          <a:p>
            <a:pPr lvl="1"/>
            <a:r>
              <a:rPr lang="en-GB" dirty="0"/>
              <a:t>Similar to how DAX variables work</a:t>
            </a:r>
          </a:p>
          <a:p>
            <a:pPr lvl="1"/>
            <a:r>
              <a:rPr lang="en-GB" dirty="0"/>
              <a:t>Keyword: </a:t>
            </a:r>
            <a:r>
              <a:rPr lang="en-GB" b="1" dirty="0"/>
              <a:t>VAL</a:t>
            </a:r>
          </a:p>
          <a:p>
            <a:r>
              <a:rPr lang="en-GB" b="1" dirty="0"/>
              <a:t>Expression parameter </a:t>
            </a:r>
            <a:r>
              <a:rPr lang="en-GB" dirty="0"/>
              <a:t>(aka. “laze evaluation”)</a:t>
            </a:r>
            <a:endParaRPr lang="en-GB" b="1" dirty="0"/>
          </a:p>
          <a:p>
            <a:pPr lvl="1"/>
            <a:r>
              <a:rPr lang="en-GB" dirty="0"/>
              <a:t>Can be object references or arbitrary DAX expressions</a:t>
            </a:r>
          </a:p>
          <a:p>
            <a:pPr lvl="1"/>
            <a:r>
              <a:rPr lang="en-GB" dirty="0"/>
              <a:t>Evaluated in the evaluation context where it is being used in the function body</a:t>
            </a:r>
          </a:p>
          <a:p>
            <a:pPr lvl="1"/>
            <a:r>
              <a:rPr lang="en-GB" dirty="0"/>
              <a:t>May produce </a:t>
            </a:r>
            <a:r>
              <a:rPr lang="en-GB" b="1" dirty="0"/>
              <a:t>different results</a:t>
            </a:r>
            <a:r>
              <a:rPr lang="en-GB" dirty="0"/>
              <a:t> inside the function</a:t>
            </a:r>
          </a:p>
          <a:p>
            <a:pPr lvl="1"/>
            <a:r>
              <a:rPr lang="en-US" dirty="0"/>
              <a:t>Keyword: </a:t>
            </a:r>
            <a:r>
              <a:rPr lang="en-US" b="1" dirty="0"/>
              <a:t>EXPR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330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E8D85-6B73-67B3-75D9-BB53DC0EA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Understanding parameters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C23DF6-ED44-0228-1719-62405BFD29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UDFs support 0 – 12 parameters</a:t>
            </a:r>
          </a:p>
          <a:p>
            <a:pPr lvl="1"/>
            <a:r>
              <a:rPr lang="en-GB" dirty="0"/>
              <a:t>Optional parameters </a:t>
            </a:r>
            <a:r>
              <a:rPr lang="en-GB" b="1" dirty="0"/>
              <a:t>not</a:t>
            </a:r>
            <a:r>
              <a:rPr lang="en-GB" dirty="0"/>
              <a:t> supported</a:t>
            </a:r>
          </a:p>
          <a:p>
            <a:pPr lvl="1"/>
            <a:r>
              <a:rPr lang="en-GB" dirty="0"/>
              <a:t>Function overloading </a:t>
            </a:r>
            <a:r>
              <a:rPr lang="en-GB" b="1" dirty="0"/>
              <a:t>not </a:t>
            </a:r>
            <a:r>
              <a:rPr lang="en-GB" dirty="0"/>
              <a:t>supported</a:t>
            </a:r>
          </a:p>
          <a:p>
            <a:r>
              <a:rPr lang="en-GB" dirty="0"/>
              <a:t>Parameter type hints:</a:t>
            </a:r>
          </a:p>
          <a:p>
            <a:pPr lvl="1"/>
            <a:r>
              <a:rPr lang="en-GB" b="1" dirty="0"/>
              <a:t>Type</a:t>
            </a:r>
            <a:r>
              <a:rPr lang="en-GB" dirty="0"/>
              <a:t>:</a:t>
            </a:r>
            <a:br>
              <a:rPr lang="en-GB" dirty="0"/>
            </a:br>
            <a:r>
              <a:rPr lang="en-GB" dirty="0"/>
              <a:t>    </a:t>
            </a:r>
            <a:r>
              <a:rPr lang="en-GB" u="sng" dirty="0" err="1"/>
              <a:t>AnyVal</a:t>
            </a:r>
            <a:r>
              <a:rPr lang="en-GB" dirty="0"/>
              <a:t>, Scalar, Table, </a:t>
            </a:r>
            <a:r>
              <a:rPr lang="en-GB" dirty="0" err="1"/>
              <a:t>AnyRef</a:t>
            </a:r>
            <a:endParaRPr lang="en-GB" dirty="0"/>
          </a:p>
          <a:p>
            <a:pPr lvl="1"/>
            <a:r>
              <a:rPr lang="en-GB" b="1" dirty="0"/>
              <a:t>Subtype </a:t>
            </a:r>
            <a:r>
              <a:rPr lang="en-GB" dirty="0"/>
              <a:t>(only when Type = Scalar):</a:t>
            </a:r>
            <a:br>
              <a:rPr lang="en-GB" dirty="0"/>
            </a:br>
            <a:r>
              <a:rPr lang="en-GB" dirty="0"/>
              <a:t>    Int64, String, </a:t>
            </a:r>
            <a:r>
              <a:rPr lang="en-GB" dirty="0" err="1"/>
              <a:t>DateTime</a:t>
            </a:r>
            <a:r>
              <a:rPr lang="en-GB" dirty="0"/>
              <a:t>, Double,</a:t>
            </a:r>
            <a:br>
              <a:rPr lang="en-GB" dirty="0"/>
            </a:br>
            <a:r>
              <a:rPr lang="en-GB" dirty="0"/>
              <a:t>    Decimal, Boolean, Numeric, Variant</a:t>
            </a:r>
          </a:p>
          <a:p>
            <a:pPr lvl="1"/>
            <a:r>
              <a:rPr lang="en-GB" b="1" dirty="0"/>
              <a:t>Mode</a:t>
            </a:r>
            <a:r>
              <a:rPr lang="en-GB" dirty="0"/>
              <a:t>:</a:t>
            </a:r>
            <a:br>
              <a:rPr lang="en-GB" dirty="0"/>
            </a:br>
            <a:r>
              <a:rPr lang="en-GB" dirty="0"/>
              <a:t>    </a:t>
            </a:r>
            <a:r>
              <a:rPr lang="en-GB" u="sng" dirty="0"/>
              <a:t>Val</a:t>
            </a:r>
            <a:r>
              <a:rPr lang="en-GB" dirty="0"/>
              <a:t>, Expr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1E0FFE-4EFC-9CAB-FDF0-A7400107AF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6971" y="2735476"/>
            <a:ext cx="5373590" cy="333687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8D473C6-C46A-66DC-23CF-520C04E72486}"/>
              </a:ext>
            </a:extLst>
          </p:cNvPr>
          <p:cNvSpPr txBox="1"/>
          <p:nvPr/>
        </p:nvSpPr>
        <p:spPr>
          <a:xfrm>
            <a:off x="6482686" y="6038463"/>
            <a:ext cx="57821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Credit: SQLBI, </a:t>
            </a:r>
            <a:r>
              <a:rPr lang="en-GB" sz="1200" dirty="0">
                <a:hlinkClick r:id="rId4"/>
              </a:rPr>
              <a:t>https://www.sqlbi.com/articles/introducing-user-defined-functions-in-dax/</a:t>
            </a:r>
            <a:r>
              <a:rPr lang="en-GB" sz="1200" dirty="0"/>
              <a:t> 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1488979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A47A7-3939-6BE9-CA94-B0F455FA2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Demo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113110-44E0-DB1B-E7E6-0B109A7E84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UDF parameters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55670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69D03-A090-8911-04C0-927318590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Gotchas / current limitations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88EFC2-60F7-E98A-2499-76CF796E4F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GB" dirty="0"/>
              <a:t>Can retrieve UDF metadata through INFO.FUNCTIONS or DMV TMSCHEMA_FUNCTIONS</a:t>
            </a:r>
          </a:p>
          <a:p>
            <a:pPr lvl="1"/>
            <a:r>
              <a:rPr lang="en-GB" dirty="0"/>
              <a:t>Currently no parameter metadata </a:t>
            </a:r>
            <a:r>
              <a:rPr lang="en-GB" dirty="0">
                <a:sym typeface="Wingdings" panose="05000000000000000000" pitchFamily="2" charset="2"/>
              </a:rPr>
              <a:t></a:t>
            </a:r>
          </a:p>
          <a:p>
            <a:r>
              <a:rPr lang="en-GB" b="1" dirty="0" err="1">
                <a:sym typeface="Wingdings" panose="05000000000000000000" pitchFamily="2" charset="2"/>
              </a:rPr>
              <a:t>IsHidden</a:t>
            </a:r>
            <a:r>
              <a:rPr lang="en-GB" dirty="0">
                <a:sym typeface="Wingdings" panose="05000000000000000000" pitchFamily="2" charset="2"/>
              </a:rPr>
              <a:t> does nothing</a:t>
            </a:r>
          </a:p>
          <a:p>
            <a:r>
              <a:rPr lang="en-GB" dirty="0">
                <a:sym typeface="Wingdings" panose="05000000000000000000" pitchFamily="2" charset="2"/>
              </a:rPr>
              <a:t>Cannot author UDFs in the Power BI service (unless using XMLA endpoint)</a:t>
            </a:r>
          </a:p>
          <a:p>
            <a:r>
              <a:rPr lang="en-GB" dirty="0">
                <a:sym typeface="Wingdings" panose="05000000000000000000" pitchFamily="2" charset="2"/>
              </a:rPr>
              <a:t>No UDF “display folders”</a:t>
            </a:r>
          </a:p>
          <a:p>
            <a:r>
              <a:rPr lang="en-GB" dirty="0">
                <a:sym typeface="Wingdings" panose="05000000000000000000" pitchFamily="2" charset="2"/>
              </a:rPr>
              <a:t>Buggy IntelliSense in PBI Desktop</a:t>
            </a:r>
          </a:p>
          <a:p>
            <a:r>
              <a:rPr lang="en-GB" dirty="0">
                <a:sym typeface="Wingdings" panose="05000000000000000000" pitchFamily="2" charset="2"/>
              </a:rPr>
              <a:t>DAX in UDF bodies is not updated when renaming objects in PBI Desktop</a:t>
            </a:r>
          </a:p>
          <a:p>
            <a:r>
              <a:rPr lang="en-GB" dirty="0">
                <a:sym typeface="Wingdings" panose="05000000000000000000" pitchFamily="2" charset="2"/>
              </a:rPr>
              <a:t>PBI Desktop doesn’t support parameter comments / tooltips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19303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6033D-138F-045C-4F0C-5F028AB15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Demo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E8ED4E-329B-FA35-FDDB-BA7E61C0B2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Real-life examples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15565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9417F-6435-42BE-4C36-D22F9DCB3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Community innovation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F10AE8-A322-1FA3-CEB9-83BFA71D3A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UDFs fall into two different categories:</a:t>
            </a:r>
          </a:p>
          <a:p>
            <a:pPr lvl="1"/>
            <a:r>
              <a:rPr lang="en-GB" dirty="0"/>
              <a:t>Model </a:t>
            </a:r>
            <a:r>
              <a:rPr lang="en-GB" b="1" dirty="0"/>
              <a:t>specific</a:t>
            </a:r>
          </a:p>
          <a:p>
            <a:pPr lvl="1"/>
            <a:r>
              <a:rPr lang="en-GB" dirty="0"/>
              <a:t>Model </a:t>
            </a:r>
            <a:r>
              <a:rPr lang="en-GB" b="1" dirty="0"/>
              <a:t>independent</a:t>
            </a:r>
          </a:p>
          <a:p>
            <a:r>
              <a:rPr lang="en-GB" dirty="0"/>
              <a:t>The latter opens the door for logic reuse </a:t>
            </a:r>
            <a:r>
              <a:rPr lang="en-GB" b="1" dirty="0"/>
              <a:t>across models</a:t>
            </a:r>
            <a:endParaRPr lang="en-GB" dirty="0"/>
          </a:p>
          <a:p>
            <a:r>
              <a:rPr lang="en-GB" dirty="0">
                <a:hlinkClick r:id="rId3"/>
              </a:rPr>
              <a:t>daxlib.org</a:t>
            </a:r>
            <a:r>
              <a:rPr lang="en-GB" dirty="0"/>
              <a:t>: Launched by SQLBI. First community attempt at providing an open “marketplace” for UDFs</a:t>
            </a:r>
          </a:p>
          <a:p>
            <a:pPr lvl="1"/>
            <a:r>
              <a:rPr lang="en-GB" dirty="0"/>
              <a:t>“</a:t>
            </a:r>
            <a:r>
              <a:rPr lang="en-GB" dirty="0" err="1"/>
              <a:t>Nuget</a:t>
            </a:r>
            <a:r>
              <a:rPr lang="en-GB" dirty="0"/>
              <a:t> for DAX”</a:t>
            </a:r>
          </a:p>
          <a:p>
            <a:pPr lvl="1"/>
            <a:r>
              <a:rPr lang="en-GB" dirty="0"/>
              <a:t>Tabular Editor 2 and 3 integration planned!</a:t>
            </a:r>
          </a:p>
          <a:p>
            <a:pPr lvl="1"/>
            <a:r>
              <a:rPr lang="en-GB" dirty="0"/>
              <a:t>Anyone can </a:t>
            </a:r>
            <a:r>
              <a:rPr lang="en-GB" dirty="0">
                <a:hlinkClick r:id="rId4"/>
              </a:rPr>
              <a:t>contribute</a:t>
            </a:r>
            <a:r>
              <a:rPr lang="en-GB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4559480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709A115-0CFA-292F-9AFA-F416360E6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Demo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102480-CDB3-79AA-40FD-3085527F5C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err="1"/>
              <a:t>DaxLib</a:t>
            </a:r>
            <a:r>
              <a:rPr lang="en-GB" dirty="0"/>
              <a:t> integration in TE3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939345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7011F-B393-BE75-4506-38DFFBF26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Naming conventions / Best practices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5D586E-9F6F-9B82-2923-3BA8F5DC41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UDF naming conventions:</a:t>
            </a:r>
          </a:p>
          <a:p>
            <a:pPr lvl="1"/>
            <a:r>
              <a:rPr lang="en-GB" dirty="0"/>
              <a:t>Use </a:t>
            </a:r>
            <a:r>
              <a:rPr lang="en-GB" b="1" dirty="0" err="1"/>
              <a:t>PascalCase</a:t>
            </a:r>
            <a:endParaRPr lang="en-GB" b="1" dirty="0"/>
          </a:p>
          <a:p>
            <a:pPr lvl="1"/>
            <a:r>
              <a:rPr lang="en-GB" dirty="0"/>
              <a:t>Cannot use built-in function names or reserved keywords</a:t>
            </a:r>
          </a:p>
          <a:p>
            <a:pPr lvl="1"/>
            <a:r>
              <a:rPr lang="en-GB" dirty="0"/>
              <a:t>Delineate categories using “.” (dots)</a:t>
            </a:r>
          </a:p>
          <a:p>
            <a:pPr lvl="2"/>
            <a:r>
              <a:rPr lang="en-GB" dirty="0"/>
              <a:t>Similar to namespaces in other languages</a:t>
            </a:r>
          </a:p>
          <a:p>
            <a:pPr lvl="2"/>
            <a:r>
              <a:rPr lang="en-GB" dirty="0"/>
              <a:t>Partial names cannot be reserved keywords</a:t>
            </a:r>
          </a:p>
          <a:p>
            <a:pPr lvl="2"/>
            <a:r>
              <a:rPr lang="en-GB" dirty="0"/>
              <a:t>Ensures function names do not conflict with new built-in functions introduced in the future</a:t>
            </a:r>
          </a:p>
          <a:p>
            <a:pPr lvl="1"/>
            <a:r>
              <a:rPr lang="en-GB" dirty="0"/>
              <a:t>Use “Local.” for model specific functions</a:t>
            </a:r>
          </a:p>
          <a:p>
            <a:r>
              <a:rPr lang="en-GB" dirty="0"/>
              <a:t>Parameter naming conventions:</a:t>
            </a:r>
          </a:p>
          <a:p>
            <a:pPr lvl="1"/>
            <a:r>
              <a:rPr lang="en-GB" dirty="0"/>
              <a:t>Use </a:t>
            </a:r>
            <a:r>
              <a:rPr lang="en-GB" b="1" dirty="0"/>
              <a:t>camelCase</a:t>
            </a:r>
            <a:endParaRPr lang="en-GB" dirty="0"/>
          </a:p>
          <a:p>
            <a:pPr lvl="1"/>
            <a:r>
              <a:rPr lang="en-GB" dirty="0"/>
              <a:t>Include suffix to indicate the expected type, i.e. “</a:t>
            </a:r>
            <a:r>
              <a:rPr lang="en-GB" dirty="0" err="1"/>
              <a:t>dateColumn</a:t>
            </a:r>
            <a:r>
              <a:rPr lang="en-GB" dirty="0"/>
              <a:t>”, “</a:t>
            </a:r>
            <a:r>
              <a:rPr lang="en-GB" dirty="0" err="1"/>
              <a:t>amountMeasure</a:t>
            </a:r>
            <a:r>
              <a:rPr lang="en-GB" dirty="0"/>
              <a:t>”, etc.</a:t>
            </a:r>
          </a:p>
          <a:p>
            <a:pPr marL="0" indent="0">
              <a:buNone/>
            </a:pPr>
            <a:endParaRPr lang="en-US" sz="2200" dirty="0">
              <a:hlinkClick r:id="rId2"/>
            </a:endParaRPr>
          </a:p>
          <a:p>
            <a:pPr marL="0" indent="0">
              <a:buNone/>
            </a:pPr>
            <a:r>
              <a:rPr lang="en-US" sz="2200" dirty="0">
                <a:hlinkClick r:id="rId2"/>
              </a:rPr>
              <a:t>https://docs.sqlbi.com/dax-style/dax-naming-conventions#user-defined-functions</a:t>
            </a:r>
            <a:r>
              <a:rPr lang="en-US" sz="2200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611088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5E73B-95D4-A4F5-45FE-6C8F198C0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 conclusion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B2E741-02DB-5938-65C5-3CF10872BF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UDFs are powerful new constructs in DAX</a:t>
            </a:r>
          </a:p>
          <a:p>
            <a:r>
              <a:rPr lang="en-GB" dirty="0"/>
              <a:t>Allows simple logic encapsulation and reuse</a:t>
            </a:r>
          </a:p>
          <a:p>
            <a:pPr lvl="1"/>
            <a:r>
              <a:rPr lang="en-GB" dirty="0"/>
              <a:t>Cleaner models that are easier to maintain</a:t>
            </a:r>
            <a:endParaRPr lang="en-US" dirty="0"/>
          </a:p>
          <a:p>
            <a:pPr lvl="1"/>
            <a:r>
              <a:rPr lang="en-US" dirty="0"/>
              <a:t>Clearer path towards </a:t>
            </a:r>
            <a:r>
              <a:rPr lang="en-US" b="1" dirty="0"/>
              <a:t>unit testing</a:t>
            </a:r>
            <a:r>
              <a:rPr lang="en-US" dirty="0"/>
              <a:t> of semantic model logic</a:t>
            </a:r>
          </a:p>
          <a:p>
            <a:pPr lvl="1"/>
            <a:r>
              <a:rPr lang="en-US" dirty="0"/>
              <a:t>No side effects</a:t>
            </a:r>
          </a:p>
          <a:p>
            <a:r>
              <a:rPr lang="en-US" dirty="0"/>
              <a:t>Enables logic sharing across models</a:t>
            </a:r>
          </a:p>
          <a:p>
            <a:r>
              <a:rPr lang="en-US" dirty="0"/>
              <a:t>Community already doing amazing things with UDFs!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314001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1F24080-DEAE-9961-6AE9-7AEB453F0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Thank you!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B413BC-9011-317F-B809-F38BA336B9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39313" y="851477"/>
            <a:ext cx="10515600" cy="1500187"/>
          </a:xfrm>
        </p:spPr>
        <p:txBody>
          <a:bodyPr/>
          <a:lstStyle/>
          <a:p>
            <a:r>
              <a:rPr lang="en-GB" dirty="0"/>
              <a:t>Don’t forget the session evaluation:</a:t>
            </a:r>
            <a:endParaRPr lang="en-US" dirty="0"/>
          </a:p>
        </p:txBody>
      </p:sp>
      <p:pic>
        <p:nvPicPr>
          <p:cNvPr id="7" name="Picture 6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108AF59E-01BD-0DC4-9374-C19FBE0007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2926" y="1288911"/>
            <a:ext cx="4762500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2729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1313</TotalTime>
  <Words>1130</Words>
  <Application>Microsoft Office PowerPoint</Application>
  <PresentationFormat>Widescreen</PresentationFormat>
  <Paragraphs>215</Paragraphs>
  <Slides>31</Slides>
  <Notes>14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7" baseType="lpstr">
      <vt:lpstr>Aptos</vt:lpstr>
      <vt:lpstr>Arial</vt:lpstr>
      <vt:lpstr>Calibri</vt:lpstr>
      <vt:lpstr>Calibri Light</vt:lpstr>
      <vt:lpstr>Wingdings</vt:lpstr>
      <vt:lpstr>Office Theme</vt:lpstr>
      <vt:lpstr>PowerPoint Presentation</vt:lpstr>
      <vt:lpstr>Raffle prizes from the sponsors</vt:lpstr>
      <vt:lpstr>Demystifying DAX UDFs</vt:lpstr>
      <vt:lpstr>About me</vt:lpstr>
      <vt:lpstr>Agenda</vt:lpstr>
      <vt:lpstr>Why DAX UDFs?</vt:lpstr>
      <vt:lpstr>Enter DAX User-Defined Functions</vt:lpstr>
      <vt:lpstr>Enter DAX User-Defined Functions</vt:lpstr>
      <vt:lpstr>Enter DAX User-Defined Functions</vt:lpstr>
      <vt:lpstr>Enter DAX User-Defined Functions</vt:lpstr>
      <vt:lpstr>Enter DAX User-Defined Functions</vt:lpstr>
      <vt:lpstr>Enter DAX User-Defined Functions</vt:lpstr>
      <vt:lpstr>Enter DAX User-Defined Functions</vt:lpstr>
      <vt:lpstr>How do they work?</vt:lpstr>
      <vt:lpstr>How do they work?</vt:lpstr>
      <vt:lpstr>Demo</vt:lpstr>
      <vt:lpstr>How do they work?</vt:lpstr>
      <vt:lpstr>Demo</vt:lpstr>
      <vt:lpstr>How do they work?</vt:lpstr>
      <vt:lpstr>How do they work?</vt:lpstr>
      <vt:lpstr>Demo</vt:lpstr>
      <vt:lpstr>Understanding parameters</vt:lpstr>
      <vt:lpstr>Understanding parameters</vt:lpstr>
      <vt:lpstr>Demo</vt:lpstr>
      <vt:lpstr>Gotchas / current limitations</vt:lpstr>
      <vt:lpstr>Demo</vt:lpstr>
      <vt:lpstr>Community innovation</vt:lpstr>
      <vt:lpstr>Demo</vt:lpstr>
      <vt:lpstr>Naming conventions / Best practices</vt:lpstr>
      <vt:lpstr>In conclusion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Sponsors</dc:title>
  <dc:creator>Just Blindbaek</dc:creator>
  <cp:lastModifiedBy>Daniel Otykier</cp:lastModifiedBy>
  <cp:revision>10</cp:revision>
  <dcterms:created xsi:type="dcterms:W3CDTF">2023-09-12T06:33:16Z</dcterms:created>
  <dcterms:modified xsi:type="dcterms:W3CDTF">2025-09-23T10:24:28Z</dcterms:modified>
</cp:coreProperties>
</file>